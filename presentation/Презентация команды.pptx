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7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10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9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98.png"/><Relationship Id="rId10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0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jpg"/><Relationship Id="rId5" Type="http://schemas.openxmlformats.org/officeDocument/2006/relationships/image" Target="../media/image35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97.png"/><Relationship Id="rId11" Type="http://schemas.openxmlformats.org/officeDocument/2006/relationships/image" Target="../media/image34.png"/><Relationship Id="rId10" Type="http://schemas.openxmlformats.org/officeDocument/2006/relationships/image" Target="../media/image18.png"/><Relationship Id="rId21" Type="http://schemas.openxmlformats.org/officeDocument/2006/relationships/image" Target="../media/image45.png"/><Relationship Id="rId13" Type="http://schemas.openxmlformats.org/officeDocument/2006/relationships/image" Target="../media/image24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0.png"/><Relationship Id="rId9" Type="http://schemas.openxmlformats.org/officeDocument/2006/relationships/image" Target="../media/image23.png"/><Relationship Id="rId15" Type="http://schemas.openxmlformats.org/officeDocument/2006/relationships/image" Target="../media/image19.png"/><Relationship Id="rId14" Type="http://schemas.openxmlformats.org/officeDocument/2006/relationships/image" Target="../media/image32.png"/><Relationship Id="rId17" Type="http://schemas.openxmlformats.org/officeDocument/2006/relationships/image" Target="../media/image36.png"/><Relationship Id="rId16" Type="http://schemas.openxmlformats.org/officeDocument/2006/relationships/image" Target="../media/image22.png"/><Relationship Id="rId5" Type="http://schemas.openxmlformats.org/officeDocument/2006/relationships/image" Target="../media/image16.png"/><Relationship Id="rId19" Type="http://schemas.openxmlformats.org/officeDocument/2006/relationships/image" Target="../media/image37.png"/><Relationship Id="rId6" Type="http://schemas.openxmlformats.org/officeDocument/2006/relationships/image" Target="../media/image27.png"/><Relationship Id="rId18" Type="http://schemas.openxmlformats.org/officeDocument/2006/relationships/image" Target="../media/image28.png"/><Relationship Id="rId7" Type="http://schemas.openxmlformats.org/officeDocument/2006/relationships/image" Target="../media/image20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30.jpg"/><Relationship Id="rId6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hyperlink" Target="https://goldenmean.pro/" TargetMode="External"/><Relationship Id="rId7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0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60.png"/><Relationship Id="rId6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8.png"/><Relationship Id="rId5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1.png"/><Relationship Id="rId9" Type="http://schemas.openxmlformats.org/officeDocument/2006/relationships/image" Target="../media/image49.png"/><Relationship Id="rId5" Type="http://schemas.openxmlformats.org/officeDocument/2006/relationships/image" Target="../media/image31.png"/><Relationship Id="rId6" Type="http://schemas.openxmlformats.org/officeDocument/2006/relationships/image" Target="../media/image56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52.png"/><Relationship Id="rId5" Type="http://schemas.openxmlformats.org/officeDocument/2006/relationships/image" Target="../media/image47.png"/><Relationship Id="rId6" Type="http://schemas.openxmlformats.org/officeDocument/2006/relationships/image" Target="../media/image55.png"/><Relationship Id="rId7" Type="http://schemas.openxmlformats.org/officeDocument/2006/relationships/hyperlink" Target="https://goldenmean.pro/" TargetMode="External"/><Relationship Id="rId8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1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72.png"/><Relationship Id="rId8" Type="http://schemas.openxmlformats.org/officeDocument/2006/relationships/image" Target="../media/image9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74.jpg"/><Relationship Id="rId5" Type="http://schemas.openxmlformats.org/officeDocument/2006/relationships/image" Target="../media/image81.jpg"/><Relationship Id="rId6" Type="http://schemas.openxmlformats.org/officeDocument/2006/relationships/image" Target="../media/image70.jpg"/><Relationship Id="rId7" Type="http://schemas.openxmlformats.org/officeDocument/2006/relationships/image" Target="../media/image83.jpg"/><Relationship Id="rId8" Type="http://schemas.openxmlformats.org/officeDocument/2006/relationships/image" Target="../media/image7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6.png"/><Relationship Id="rId5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5.png"/><Relationship Id="rId5" Type="http://schemas.openxmlformats.org/officeDocument/2006/relationships/image" Target="../media/image77.png"/><Relationship Id="rId6" Type="http://schemas.openxmlformats.org/officeDocument/2006/relationships/image" Target="../media/image9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hyperlink" Target="https://goldenmean.pro/" TargetMode="External"/><Relationship Id="rId5" Type="http://schemas.openxmlformats.org/officeDocument/2006/relationships/image" Target="../media/image73.png"/><Relationship Id="rId6" Type="http://schemas.openxmlformats.org/officeDocument/2006/relationships/image" Target="../media/image89.png"/><Relationship Id="rId7" Type="http://schemas.openxmlformats.org/officeDocument/2006/relationships/image" Target="../media/image82.png"/><Relationship Id="rId8" Type="http://schemas.openxmlformats.org/officeDocument/2006/relationships/image" Target="../media/image8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95.png"/><Relationship Id="rId5" Type="http://schemas.openxmlformats.org/officeDocument/2006/relationships/image" Target="../media/image9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95.png"/><Relationship Id="rId5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87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hyperlink" Target="https://goldenmean.pro/" TargetMode="External"/><Relationship Id="rId8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1371600"/>
            <a:ext cx="8520600" cy="259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000"/>
              <a:buNone/>
            </a:pPr>
            <a:r>
              <a:rPr b="0" i="0" lang="ru-RU" sz="3200" u="none" cap="none" strike="noStrike">
                <a:solidFill>
                  <a:srgbClr val="0072B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Разработка аналитического приложения для прогнозирования оттока клиентов и анализа розничных продаж</a:t>
            </a:r>
            <a:br>
              <a:rPr b="0" i="0" lang="ru-RU" sz="3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0" i="0" lang="ru-RU" sz="3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0" i="0" lang="ru-RU" sz="2800" u="none" cap="none" strike="noStrike">
                <a:solidFill>
                  <a:srgbClr val="B1CDF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pic>
        <p:nvPicPr>
          <p:cNvPr id="51" name="Google Shape;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2897" y="3271327"/>
            <a:ext cx="1877987" cy="187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18152" y="3419918"/>
            <a:ext cx="2550901" cy="1723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Тенденция к повышению" id="53" name="Google Shape;5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7405" y="71600"/>
            <a:ext cx="458595" cy="45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татистика" id="54" name="Google Shape;5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1785" y="71600"/>
            <a:ext cx="458595" cy="45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Грабитель" id="55" name="Google Shape;5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83357" y="79167"/>
            <a:ext cx="458595" cy="45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Земной шар с очертаниями Азии" id="56" name="Google Shape;5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22776" y="50217"/>
            <a:ext cx="458594" cy="458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Единорог" id="57" name="Google Shape;5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1370" y="21266"/>
            <a:ext cx="458594" cy="458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4614844" y="148073"/>
            <a:ext cx="3755827" cy="5280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32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Golgen Mean</a:t>
            </a:r>
            <a:br>
              <a:rPr lang="ru-RU" sz="36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ru-RU" sz="14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состав команды</a:t>
            </a:r>
            <a:endParaRPr sz="14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211459" y="636176"/>
            <a:ext cx="2245065" cy="1576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20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Алимова Елена </a:t>
            </a:r>
            <a:endParaRPr/>
          </a:p>
          <a:p>
            <a:pPr indent="0" lvl="0" marL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-RU" sz="1400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sz="1400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Тeam lead</a:t>
            </a:r>
            <a:endParaRPr/>
          </a:p>
          <a:p>
            <a:pPr indent="0" lvl="0" marL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0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Статистика" id="64" name="Google Shape;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153" y="3923067"/>
            <a:ext cx="651194" cy="502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Презентация с линейчатой диаграммой" id="65" name="Google Shape;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4663" y="1626813"/>
            <a:ext cx="525229" cy="498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Шестеренки" id="66" name="Google Shape;6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8478" y="1891788"/>
            <a:ext cx="700312" cy="58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борник схем" id="67" name="Google Shape;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6637" y="2304931"/>
            <a:ext cx="562830" cy="519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оциальная сеть" id="68" name="Google Shape;6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5072" y="3364327"/>
            <a:ext cx="639543" cy="602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асширение бизнеса" id="69" name="Google Shape;6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918" y="895220"/>
            <a:ext cx="655830" cy="63625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3836624" y="2258439"/>
            <a:ext cx="1416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210975" y="1282295"/>
            <a:ext cx="2458365" cy="1346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20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Зырянов Алексей </a:t>
            </a:r>
            <a:endParaRPr b="0" i="0" sz="20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F\В developer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 Engineer</a:t>
            </a:r>
            <a:endParaRPr/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844027" y="1580462"/>
            <a:ext cx="2774658" cy="9471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20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Широбоков Михаил </a:t>
            </a:r>
            <a:endParaRPr/>
          </a:p>
          <a:p>
            <a:pPr indent="0" lvl="0" marL="0" marR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 Engineer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Engineer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6912" y="3662939"/>
            <a:ext cx="2987749" cy="1124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20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Синикина Анастасия </a:t>
            </a:r>
            <a:endParaRPr/>
          </a:p>
          <a:p>
            <a:pPr indent="0" lvl="0" marL="0" marR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 Developer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266569" y="3080615"/>
            <a:ext cx="3070303" cy="1124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20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Городничева Наталья</a:t>
            </a:r>
            <a:endParaRPr/>
          </a:p>
          <a:p>
            <a:pPr indent="0" lvl="0" marL="0" marR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Engineer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 Engineer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022" y="2054034"/>
            <a:ext cx="3174203" cy="1124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20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Емельянова Екатерина </a:t>
            </a:r>
            <a:endParaRPr/>
          </a:p>
          <a:p>
            <a:pPr indent="0" lvl="0" marL="0" marR="0" rtl="0" algn="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Analyst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5879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 Developer</a:t>
            </a:r>
            <a:endParaRPr b="0" i="0" sz="1400" u="none" cap="none" strike="noStrike">
              <a:solidFill>
                <a:srgbClr val="5879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46666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Подключения" id="76" name="Google Shape;7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70671" y="238110"/>
            <a:ext cx="561870" cy="561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1350335" y="-4269"/>
            <a:ext cx="7166346" cy="3845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Задачи, варианты решения, план работы</a:t>
            </a:r>
            <a:endParaRPr sz="24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28" y="527651"/>
            <a:ext cx="7602279" cy="461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3646" y="2036555"/>
            <a:ext cx="1254115" cy="67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8638" y="760534"/>
            <a:ext cx="1309123" cy="900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Мозговой штурм группы" id="85" name="Google Shape;8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5414" y="-46507"/>
            <a:ext cx="574158" cy="57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0" y="4233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0" i="0"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тек технологий</a:t>
            </a:r>
            <a:endParaRPr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18" y="-451441"/>
            <a:ext cx="2694910" cy="269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582" y="2756156"/>
            <a:ext cx="1277150" cy="72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4984" y="2126309"/>
            <a:ext cx="1956022" cy="880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880" y="791638"/>
            <a:ext cx="1627393" cy="162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34602" y="1595821"/>
            <a:ext cx="1864896" cy="56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2349" y="1936639"/>
            <a:ext cx="2004783" cy="96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36971" y="2210283"/>
            <a:ext cx="2147828" cy="712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31250" y="631025"/>
            <a:ext cx="1654044" cy="8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880" y="4315717"/>
            <a:ext cx="4070457" cy="495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72715" y="805246"/>
            <a:ext cx="1748056" cy="874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50119" y="2230567"/>
            <a:ext cx="1004379" cy="103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09589" y="3046791"/>
            <a:ext cx="2133694" cy="107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29706" y="3831768"/>
            <a:ext cx="1654044" cy="1654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11071" y="1869486"/>
            <a:ext cx="990519" cy="99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9382" y="3091139"/>
            <a:ext cx="2245220" cy="76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721006" y="3134630"/>
            <a:ext cx="2780620" cy="1167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243208" y="1197443"/>
            <a:ext cx="1392198" cy="481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Фрагменты головоломки" id="108" name="Google Shape;108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435154" y="0"/>
            <a:ext cx="631025" cy="6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5152021" y="117425"/>
            <a:ext cx="3494756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Работа с данными</a:t>
            </a:r>
            <a:endParaRPr sz="24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162849" y="2293035"/>
            <a:ext cx="3286343" cy="2757430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14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Часть выяленных проблем: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-RU" sz="1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order_payments - затроились данные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ru-RU" sz="1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orders_items - задвоились некоторые столбцы и из-за этого добавились частично пустые строки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ru-RU" sz="1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часть заказов в статусе unavailable (недоступно) или canceled (отменено) - оплата есть(order_payments), но данных по заказу не было (orders_items)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</a:pPr>
            <a:r>
              <a:rPr lang="ru-RU" sz="1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отсутствует информация по возврату средств в случае отмены заказов</a:t>
            </a:r>
            <a:endParaRPr sz="11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489" y="519066"/>
            <a:ext cx="3088869" cy="1770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811823" y="196120"/>
            <a:ext cx="16480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Исходная БД</a:t>
            </a:r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3252" y="1128610"/>
            <a:ext cx="5478069" cy="3772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База данных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6322" y="98169"/>
            <a:ext cx="591956" cy="591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2576437" y="602696"/>
            <a:ext cx="32502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БД в процессе работы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3157870" y="515266"/>
            <a:ext cx="159488" cy="1748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487060" y="908262"/>
            <a:ext cx="178246" cy="20201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0710" y="802689"/>
            <a:ext cx="6010443" cy="3413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АВС анализ </a:t>
            </a:r>
            <a:endParaRPr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0" y="2094691"/>
            <a:ext cx="3168502" cy="20307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28571"/>
              <a:buNone/>
            </a:pPr>
            <a:r>
              <a:rPr lang="ru-RU" sz="56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Основные итоги:</a:t>
            </a:r>
            <a:endParaRPr/>
          </a:p>
          <a:p>
            <a:pPr indent="180000" lvl="0" marL="1143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ct val="171428"/>
              <a:buNone/>
            </a:pPr>
            <a:r>
              <a:rPr b="0" i="0" lang="ru-RU" sz="42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Товары, попавшие в категорию A: </a:t>
            </a:r>
            <a:r>
              <a:rPr b="0" i="0" lang="ru-RU" sz="420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Количество наименований товаров, попавших в категорию A: 17. Товары категории A занимают 22.97% от всех товаров, и приносят около 79.62% прибыли</a:t>
            </a:r>
            <a:endParaRPr b="0" i="0" sz="4200" u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180000" lvl="0" marL="1143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ct val="171428"/>
              <a:buNone/>
            </a:pPr>
            <a:r>
              <a:rPr b="0" i="0" lang="ru-RU" sz="42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Товары, попавшие в категорию B</a:t>
            </a:r>
            <a:r>
              <a:rPr b="0" i="0" lang="ru-RU" sz="420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Количество наименований товаров, попавших в категорию B: 16 . Товары категории B занимают 21.62% от всех товаров, и приносят около 15.21% прибыли </a:t>
            </a:r>
            <a:endParaRPr b="0" i="0" sz="4200" u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t/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Круговая диаграмма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8261" y="101996"/>
            <a:ext cx="552893" cy="5528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0" y="4434218"/>
            <a:ext cx="6624084" cy="65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8000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ru-RU" sz="11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Товары, попавшие в категорию C: </a:t>
            </a:r>
            <a:r>
              <a:rPr b="0" i="0" lang="ru-RU" sz="11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Количество наименований товаров, попавших в категорию C: 41.  Товары категории C занимают 55.41% от всех товаров, и приносят около 5.16% прибыли</a:t>
            </a:r>
            <a:endParaRPr b="0" i="0" sz="1100" u="none" cap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986606" y="378442"/>
            <a:ext cx="271130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АВС анализ по цене товара 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449143" y="700634"/>
            <a:ext cx="148856" cy="20410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215122" y="101992"/>
            <a:ext cx="2499600" cy="2124000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Был произведен АВС, XYZ анализ по 8 показателям, таким как цена, штат покупателя, доставка, категория товара и их комбинациям. Ниже представлен анализ по цене. Больше - в приложенных ноутбуках и на нашем веб-сайте</a:t>
            </a:r>
            <a:r>
              <a:rPr lang="ru-RU" sz="1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1200" u="sng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https://goldenmean.pro</a:t>
            </a:r>
            <a:endParaRPr b="0" i="0" sz="1200" u="none" cap="none" strike="noStrike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Восклицательный знак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8330" y="316109"/>
            <a:ext cx="446384" cy="44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2325" y="1084522"/>
            <a:ext cx="6683187" cy="320792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XYZ</a:t>
            </a:r>
            <a:endParaRPr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0" y="1435728"/>
            <a:ext cx="3168502" cy="27747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28571"/>
              <a:buNone/>
            </a:pPr>
            <a:r>
              <a:rPr lang="ru-RU" sz="56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Основные итоги: </a:t>
            </a:r>
            <a:endParaRPr b="0" i="0" sz="5600" u="sng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71428"/>
              <a:buNone/>
            </a:pPr>
            <a:r>
              <a:rPr lang="ru-RU" sz="42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42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Категория Х</a:t>
            </a:r>
            <a:r>
              <a:rPr b="0" i="0" lang="ru-RU" sz="4200" u="none" strike="noStrike">
                <a:solidFill>
                  <a:srgbClr val="4A66A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0" i="0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группу </a:t>
            </a:r>
            <a:r>
              <a:rPr b="0" i="1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стабильный</a:t>
            </a:r>
            <a:r>
              <a:rPr b="0" i="0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спрос входит 40 видов товаров и 36 категорий товаров, они составляют менее 10% от коэффициента вариации. Эти товары продаются регулярно. </a:t>
            </a:r>
            <a:endParaRPr b="0" i="0" sz="42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71428"/>
              <a:buNone/>
            </a:pPr>
            <a:br>
              <a:rPr b="0" i="0" lang="ru-RU" sz="4200" u="none" strike="noStrike">
                <a:solidFill>
                  <a:srgbClr val="4A66A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ru-RU" sz="4200" u="none" strike="noStrike">
                <a:solidFill>
                  <a:srgbClr val="4A66A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ru-RU" sz="42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Категория Y</a:t>
            </a:r>
            <a:r>
              <a:rPr b="0" i="0" lang="ru-RU" sz="4200" u="none" strike="noStrike">
                <a:solidFill>
                  <a:srgbClr val="4A66A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0" i="0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группу </a:t>
            </a:r>
            <a:r>
              <a:rPr b="0" i="1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переменный</a:t>
            </a:r>
            <a:r>
              <a:rPr b="0" i="0" lang="ru-RU" sz="42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спрос входит 737 видов товаров и 21 категория товаров, они составляют от 10% до 25%  коэффициента вариации. Спрос на эти товары колеблется, но есть определенные закономерности (например, сезонность)</a:t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0" y="4349886"/>
            <a:ext cx="789999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800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ru-RU" sz="11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Категория Z: </a:t>
            </a: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группу непредсказуемый спрос входит 32174 видов товаров и 17 категорий товаров, они составляют более 25%  коэффициента вариации.  Эти товары покупают очень редко и нерегулярно, спрос на них совершенно непредсказуем.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3525189" y="503861"/>
            <a:ext cx="27113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XYZ анализ по категориям товаров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559686" y="925869"/>
            <a:ext cx="139366" cy="15865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270711" y="646002"/>
            <a:ext cx="159485" cy="14177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сследование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7507" y="118933"/>
            <a:ext cx="498271" cy="49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87" y="118933"/>
            <a:ext cx="3202223" cy="1103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5376970" y="44504"/>
            <a:ext cx="3118131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АВС+XYZ анализ </a:t>
            </a:r>
            <a:endParaRPr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-1" y="101996"/>
            <a:ext cx="3033913" cy="45471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87996"/>
              </a:buClr>
              <a:buSzPct val="128571"/>
              <a:buNone/>
            </a:pPr>
            <a:r>
              <a:rPr lang="ru-RU" sz="56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Основные итоги: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A (Самые ценные клиенты):</a:t>
            </a:r>
            <a:endParaRPr i="0" sz="4800" u="none" strike="noStrike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AX (Стабильно ценные) 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AY (Ценные с умеренной стабильностью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AZ (Ценные, но нестабильные)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i="0" sz="4800" u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B (Важные клиенты):</a:t>
            </a:r>
            <a:endParaRPr sz="4800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BX (Важные и стабильные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(Важные с умеренной стабильностью):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BZ (Важные, но нестабильные):</a:t>
            </a:r>
            <a:endParaRPr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i="0" sz="4800" u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C (Менее важные </a:t>
            </a:r>
            <a:r>
              <a:rPr i="0" lang="ru-RU" sz="4800" u="none" strike="noStrike">
                <a:solidFill>
                  <a:srgbClr val="4A66A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клиенты):</a:t>
            </a:r>
            <a:endParaRPr i="0" sz="4800" u="none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CX (Менее важные, но стабильные):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CY (Менее важные с умеренной стабильностью):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ct val="150000"/>
              <a:buNone/>
            </a:pPr>
            <a:r>
              <a:rPr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CZ (Менее важные и нестабильные):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231354" y="4261682"/>
            <a:ext cx="7039779" cy="710516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8000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Обращает на себя внимание то, что в группе “стабильно ценных” AX присутствует только один покупатель. Группы В и С представлены только по одной подкатегорией: нестабильные клиенты B_Z и C_Z.  Группы В_X, B_Y, C_X, C_Y не представлены.</a:t>
            </a:r>
            <a:endParaRPr b="0" i="0" sz="12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264" y="924981"/>
            <a:ext cx="6155228" cy="320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Таблица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5101" y="128813"/>
            <a:ext cx="488391" cy="488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азряд молнии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055" y="4261682"/>
            <a:ext cx="516956" cy="47683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3013820" y="508018"/>
            <a:ext cx="28920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АВС+XZZ анализ по клиентам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405833" y="831740"/>
            <a:ext cx="148856" cy="20410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714059" y="-26030"/>
            <a:ext cx="7715881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2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АВС+XYZ анализ. Выводы и рекомендации. </a:t>
            </a:r>
            <a:endParaRPr sz="22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116958" y="443603"/>
            <a:ext cx="5311568" cy="4571441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50000"/>
              <a:buNone/>
            </a:pPr>
            <a:r>
              <a:rPr lang="ru-RU" sz="48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AX (Стабильно ценные). </a:t>
            </a: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приносящие наибольшую выручку, с наиболее стабильным и предсказуемым спросом.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None/>
            </a:pPr>
            <a:r>
              <a:rPr lang="ru-RU" sz="42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 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Премиум-обслуживание. Выделенный менеджер, приоритетная поддержка, VIP-статус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Персонализированные предложения и программы лояльности. Эксклюзивные скидки, бонусы, акции, соответствующие их потребностям. Ранний доступ к новым продуктам и услугам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50000"/>
              <a:buNone/>
            </a:pPr>
            <a:r>
              <a:rPr lang="ru-RU" sz="48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AY (Ценные, умеренно стабильные).</a:t>
            </a:r>
            <a:r>
              <a:rPr lang="ru-RU" sz="48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приносящие высокую прибыль, но с менее предсказуемым спросом. 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None/>
            </a:pPr>
            <a:r>
              <a:rPr lang="ru-RU" sz="42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 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поведения. Выясните причины колебаний спроса (например, сезонность, акции конкурентов). 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Стимулирующие предложения и индивидуальная коммуникация. Скидки, бонусы, акции для поддержания интереса, адаптированные к их потребностям.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50000"/>
              <a:buNone/>
            </a:pPr>
            <a:r>
              <a:rPr lang="ru-RU" sz="48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AZ (Ценные, но нестабильные). </a:t>
            </a: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приносящие высокую прибыль, но с очень непредсказуемым спросом. 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None/>
            </a:pPr>
            <a:r>
              <a:rPr lang="ru-RU" sz="42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 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Глубокий анализ. Выясните причины нестабильного спроса (чувствительность к цене, смена поставщиков)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ct val="171428"/>
              <a:buFont typeface="Century Gothic"/>
              <a:buChar char="-"/>
            </a:pPr>
            <a:r>
              <a:rPr lang="ru-RU" sz="4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Постоянный мониторинг: Оценка риска: оцените риск потери этих клиентов и разработайте план действий.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t/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t/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578060" y="3180768"/>
            <a:ext cx="3484122" cy="1800493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CZ (Менее важные и нестабильные). </a:t>
            </a: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которые вносят наименьший вклад в выручку и спрос на которых непредсказуем.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sng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Стандартизация и оптимизация. Снижение затрат на их обслуживание за счет автоматизированных систем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Оценка затрат: Определение рентабельности работы с этими клиентами.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pic>
        <p:nvPicPr>
          <p:cNvPr descr="Голова с шестеренками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8262" y="43170"/>
            <a:ext cx="484385" cy="48438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539564" y="638184"/>
            <a:ext cx="3484200" cy="2293500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BZ (Важные, но нестабильные). </a:t>
            </a: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вносящие значительный вклад в выручку, но с очень непредсказуемым спросом. 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</a:pPr>
            <a:r>
              <a:rPr b="0" i="0" lang="ru-RU" sz="1100" u="sng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</a:t>
            </a: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Char char="-"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Глубокий анализ. Изучение мотивов покупок, факторов, влияющих на решения.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Char char="-"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Программы лояльности. С фокусом на стимуляцию регулярных покупок.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Char char="-"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Обратная связь. Регулярный опрос о потребностях и удовлетворенности. 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231352" y="135826"/>
            <a:ext cx="11189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А:</a:t>
            </a:r>
            <a:endParaRPr/>
          </a:p>
        </p:txBody>
      </p:sp>
      <p:pic>
        <p:nvPicPr>
          <p:cNvPr descr="Стрелка: поворот вправо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485" y="272550"/>
            <a:ext cx="280085" cy="2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578060" y="367472"/>
            <a:ext cx="13503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B:</a:t>
            </a:r>
            <a:endParaRPr b="0" i="0" sz="1400" u="none" cap="none" strike="noStrike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Стрелка: поворот вправо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0127" y="3009074"/>
            <a:ext cx="279521" cy="279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трелка: поворот вправо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88" y="443603"/>
            <a:ext cx="308506" cy="30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535367" y="2887859"/>
            <a:ext cx="10845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Группа C:</a:t>
            </a:r>
            <a:endParaRPr b="0" i="0" sz="1400" u="none" cap="none" strike="noStrike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8258" y="892603"/>
            <a:ext cx="2574333" cy="2272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RFM</a:t>
            </a:r>
            <a:endParaRPr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-37187" y="0"/>
            <a:ext cx="3144309" cy="38149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28571"/>
              <a:buNone/>
            </a:pPr>
            <a:r>
              <a:rPr lang="ru-RU" sz="5600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Основные итоги: </a:t>
            </a:r>
            <a:endParaRPr b="0" i="0" sz="5600" u="sng" strike="noStrike">
              <a:solidFill>
                <a:srgbClr val="4A66A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41000"/>
              <a:buNone/>
            </a:pPr>
            <a:r>
              <a:rPr lang="ru-RU" sz="56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ru-RU" sz="5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1)</a:t>
            </a:r>
            <a:r>
              <a:rPr b="0" i="0" lang="ru-RU" sz="56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'Lost Customers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’</a:t>
            </a:r>
            <a:endParaRPr b="0"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которых, 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вероятно, потеряли.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4800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24179’</a:t>
            </a:r>
            <a:endParaRPr/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ru-RU" sz="48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2)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56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'Big Spenders</a:t>
            </a:r>
            <a:r>
              <a:rPr lang="ru-RU" sz="5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’</a:t>
            </a:r>
            <a:endParaRPr sz="4800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которые 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тратят много денег</a:t>
            </a:r>
            <a:r>
              <a:rPr lang="ru-RU" sz="48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4800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23460’</a:t>
            </a:r>
            <a:endParaRPr/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ru-RU" sz="48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3)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56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'New Low Spenders’</a:t>
            </a:r>
            <a:endParaRPr b="0" i="0" sz="4800" u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Недавние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покупатели, делающие 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небольшие покупки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4800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12407’</a:t>
            </a:r>
            <a:endParaRPr/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ru-RU" sz="48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4)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56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'Churning Spenders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’</a:t>
            </a:r>
            <a:endParaRPr sz="4800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которые 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тратили много денег, но перестали совершать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покупки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ru-RU" sz="48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4800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12167’</a:t>
            </a:r>
            <a:endParaRPr/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5) </a:t>
            </a:r>
            <a:r>
              <a:rPr b="0" i="0" lang="ru-RU" sz="56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'Promising</a:t>
            </a:r>
            <a:r>
              <a:rPr lang="ru-RU" sz="48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’</a:t>
            </a:r>
            <a:endParaRPr/>
          </a:p>
          <a:p>
            <a:pPr indent="0" lvl="0" marL="144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ct val="150000"/>
              <a:buNone/>
            </a:pP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Совершали покупки недавно,</a:t>
            </a:r>
            <a:r>
              <a:rPr b="0" i="0" lang="ru-RU" sz="4800" u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но редко</a:t>
            </a:r>
            <a:r>
              <a:rPr lang="ru-RU" sz="4800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r>
              <a:rPr b="0" i="0" lang="ru-RU" sz="4800" u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4800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12047'</a:t>
            </a:r>
            <a:endParaRPr/>
          </a:p>
          <a:p>
            <a:pPr indent="0" lvl="0" marL="72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-24193" y="3859502"/>
            <a:ext cx="3929219" cy="136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6) 'Churning Loyalists’</a:t>
            </a:r>
            <a:endParaRPr b="0" i="0" sz="1200" u="none" cap="none" strike="noStrike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Лояльные клиенты,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которые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перестали совершать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новые покупки. Кол-во клиентов: </a:t>
            </a:r>
            <a:r>
              <a:rPr b="0" i="0" lang="ru-RU" sz="1200" u="sng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2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7) 'Other Customers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’</a:t>
            </a:r>
            <a:endParaRPr/>
          </a:p>
          <a:p>
            <a:pPr indent="0" lvl="0" marL="14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Клиенты,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не вошедшие ни в один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из сегментов выше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Кол-во клиентов: </a:t>
            </a:r>
            <a:r>
              <a:rPr b="0" i="0" lang="ru-RU" sz="1200" u="sng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11834'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3168502" y="235035"/>
            <a:ext cx="27113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RFM анализ по клиентам с учетом доставки</a:t>
            </a:r>
            <a:endParaRPr/>
          </a:p>
        </p:txBody>
      </p:sp>
      <p:pic>
        <p:nvPicPr>
          <p:cNvPr descr="Исследование" id="184" name="Google Shape;1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7507" y="118933"/>
            <a:ext cx="498271" cy="49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1098" y="3122662"/>
            <a:ext cx="3847623" cy="191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2591" y="751552"/>
            <a:ext cx="3413959" cy="237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4768183" y="678928"/>
            <a:ext cx="139366" cy="15865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2888007" y="3411521"/>
            <a:ext cx="2019541" cy="600164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Наш единственный клиент из категории А_Х, кажется, ушел от нас…</a:t>
            </a:r>
            <a:endParaRPr/>
          </a:p>
        </p:txBody>
      </p:sp>
      <p:pic>
        <p:nvPicPr>
          <p:cNvPr descr="Разряд молнии" id="189" name="Google Shape;18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9682" y="3564331"/>
            <a:ext cx="496913" cy="436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трелка: поворот влево" id="190" name="Google Shape;19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47279" y="3795752"/>
            <a:ext cx="340727" cy="34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3691915" y="-18276"/>
            <a:ext cx="4946647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Когортный  анализ</a:t>
            </a:r>
            <a:endParaRPr sz="24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497618" y="1562817"/>
            <a:ext cx="178246" cy="20201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Таблица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8562" y="103244"/>
            <a:ext cx="399201" cy="3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6697" y="502446"/>
            <a:ext cx="4369877" cy="217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7619" y="2706140"/>
            <a:ext cx="3434132" cy="15364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106237" y="380211"/>
            <a:ext cx="423194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Наиболее частый возврат клиентов демонстрируют практически одни и те же штаты, в их числе - крупнейшие и густонаселенные регионы.</a:t>
            </a:r>
            <a:endParaRPr/>
          </a:p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Средний уровень возвращаемости характерен для части центральных и южных регионов, в то время как минимальные или нулевые частоты возвратов в основном наблюдаются в отдалённых или малонаселённых штатах.</a:t>
            </a:r>
            <a:endParaRPr/>
          </a:p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Одной из гипотез относительно низкой стабильности возвращаемости клиентов в штатах может являться высокая средняя стоимость доставки, которая, в свою очередь, обусловлена удаленностью от логистических пунктов с товарами.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6910" y="3008129"/>
            <a:ext cx="3056774" cy="2062103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Рекомендация</a:t>
            </a:r>
            <a:endParaRPr/>
          </a:p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Для повышения уровня удержания покупателей, рекомендуется расширить логистическую инфраструктуру, в том числе количество складов и пунктов выдачи товаров, ближе к отдаленным регионам.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675864" y="4441852"/>
            <a:ext cx="3361899" cy="646331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Больше примеров когортного анализа размещено на нашем сайте: </a:t>
            </a:r>
            <a:r>
              <a:rPr b="0" i="0" lang="ru-RU" sz="1200" u="sng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https://goldenmean.pro</a:t>
            </a:r>
            <a:endParaRPr b="0" i="0" sz="1200" u="none" cap="none" strike="noStrike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Восклицательный знак" id="203" name="Google Shape;20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03710" y="450727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106237" y="41657"/>
            <a:ext cx="4699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 по штатам и стоимости доставки:</a:t>
            </a:r>
            <a:endParaRPr/>
          </a:p>
        </p:txBody>
      </p:sp>
      <p:pic>
        <p:nvPicPr>
          <p:cNvPr descr="Стрелка: поворот вправо" id="205" name="Google Shape;20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1915" y="306537"/>
            <a:ext cx="270708" cy="27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32807" y="2806804"/>
            <a:ext cx="2353933" cy="1956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9704" y="550070"/>
            <a:ext cx="2977755" cy="245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>
            <p:ph type="title"/>
          </p:nvPr>
        </p:nvSpPr>
        <p:spPr>
          <a:xfrm>
            <a:off x="4894730" y="44504"/>
            <a:ext cx="3600372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i="0" lang="ru-RU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NLP Анализ отзывов</a:t>
            </a:r>
            <a:br>
              <a:rPr i="0" lang="ru-RU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-RU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23"/>
          <p:cNvSpPr txBox="1"/>
          <p:nvPr>
            <p:ph idx="1" type="body"/>
          </p:nvPr>
        </p:nvSpPr>
        <p:spPr>
          <a:xfrm>
            <a:off x="105783" y="107580"/>
            <a:ext cx="3314405" cy="1310547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12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отзывов клиентов интернет магазина был проведен с использованием LLM модели для извлечения ключевых признаков, которые могут помочь в предсказании оттока клиентов.</a:t>
            </a:r>
            <a:endParaRPr sz="12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Отзыв клиента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5102" y="29640"/>
            <a:ext cx="564776" cy="5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3841" y="576102"/>
            <a:ext cx="2594376" cy="23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362" y="3032429"/>
            <a:ext cx="5129777" cy="19389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122" y="1418143"/>
            <a:ext cx="3917724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Преимущества LLM: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Единое решение для всех типов вопросов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Контекстное понимание имплицитных утверждений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Гибкость к вариациям формулировок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Масштабируемость без переобучения модели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Почему именно llama-3.2-11b-vision-instruct?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Низкая стоимость обработки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Точность: ~93% на валид. выборке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Языковая поддержка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94953" y="3541801"/>
            <a:ext cx="3896062" cy="1384995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Очевидным образом низкие оценки в отзывах не предрасполагают к повторным покупкам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Люди пишут длинные сообщения на эмоциях, положительных или отрицательных - не важно.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В большей степени к повторным покупкам склонны люди удовлетворённые качеством и собственным настроением.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913118" y="3158884"/>
            <a:ext cx="8843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</a:t>
            </a:r>
            <a:endParaRPr/>
          </a:p>
        </p:txBody>
      </p:sp>
      <p:pic>
        <p:nvPicPr>
          <p:cNvPr descr="Стрелка: поворот влево" id="220" name="Google Shape;22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37205" y="3304585"/>
            <a:ext cx="27432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3360368" y="-54762"/>
            <a:ext cx="507491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i="0" lang="ru-RU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геолокации покупателя и продавца</a:t>
            </a:r>
            <a:br>
              <a:rPr i="0" lang="ru-RU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-RU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268356" y="3666938"/>
            <a:ext cx="6023113" cy="1200329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Бросаются в глаза существенные различия между северными и южными штатами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-Используя координаты индексов, через которые клиеты привязаны к геолокации, мы можем примерно определить в какой части города проживает получатель заказа. В дальшейшем можем попробовать проверить, влияет ли близость к центру города на повторные заказы.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2319613" y="3336595"/>
            <a:ext cx="8843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</a:t>
            </a:r>
            <a:endParaRPr/>
          </a:p>
        </p:txBody>
      </p:sp>
      <p:pic>
        <p:nvPicPr>
          <p:cNvPr descr="Стрелка: поворот влево"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404" y="3466383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3886" y="963377"/>
            <a:ext cx="3507636" cy="260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791" y="3004406"/>
            <a:ext cx="2502229" cy="2013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7143" y="899160"/>
            <a:ext cx="2437877" cy="200306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101770" y="118296"/>
            <a:ext cx="4221751" cy="677108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географического распределения заказов, выявление региональных особенностей доставки и покупательского поведения.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101770" y="963377"/>
            <a:ext cx="295948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Что было сделано: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Нормализация геоданных</a:t>
            </a:r>
            <a:endParaRPr b="0" i="0" sz="1200" u="none" cap="none" strike="noStrike">
              <a:solidFill>
                <a:srgbClr val="77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Все названия городов и штатов приведены к нижнему регистру, убраны акценты и специфические символы.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Валидация координат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Удалены/исправлены некорректные координаты Исправление координатных аномалий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Обогащение признаками</a:t>
            </a:r>
            <a:endParaRPr/>
          </a:p>
        </p:txBody>
      </p:sp>
      <p:pic>
        <p:nvPicPr>
          <p:cNvPr descr="Земной шар с очертаниями Северной Америки и Южной Америки" id="234" name="Google Shape;23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5709" y="22854"/>
            <a:ext cx="735328" cy="73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250" y="878196"/>
            <a:ext cx="6037708" cy="154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>
            <p:ph type="title"/>
          </p:nvPr>
        </p:nvSpPr>
        <p:spPr>
          <a:xfrm>
            <a:off x="3689372" y="22266"/>
            <a:ext cx="4927503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ML-модели для прогнозирования оттока покупателей «Классика»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258537" y="147452"/>
            <a:ext cx="3250207" cy="954107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Построение моделей для выявления клиентов, склонных к оттоку, с целью принятия проактивных мер удержания.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497618" y="1562817"/>
            <a:ext cx="178246" cy="20201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8847" y="2571750"/>
            <a:ext cx="4975892" cy="24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753" y="1192714"/>
            <a:ext cx="2620340" cy="172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7450" y="2864532"/>
            <a:ext cx="4125729" cy="2037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Целевая аудитория" id="246" name="Google Shape;24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9877" y="161322"/>
            <a:ext cx="574862" cy="57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-168965" y="29471"/>
            <a:ext cx="8815743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ML-модели для прогнозирования оттока покупателей «Классика». Выводы.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2148289" y="1584251"/>
            <a:ext cx="5071218" cy="2425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107724" y="785407"/>
            <a:ext cx="5191390" cy="3970318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- 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XGBoost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с оптимизацией порога достиг наилучшего значения PR-AUC, что критично для задач с сильным дисбалансом (редкие случаи возврата).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Это делает XGBoost отличным кандидатом для предсказания оттока и запуска персонализированных офферов.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 Балансировка и оптимизация порога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Методы балансировки и оптимизация по F1 помогают лучше выявлять клиентов, склонных вернуться.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Особенно важно это при низкой доле возвратов — улучшает recall без серьёзной потери по precision.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 Интерпретируемые модели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Logistic Regression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Decision Tree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дают представление о ключевых факторах оттока, позволяя использовать их для бизнес-инсайтов: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Например, можно выявить, какие именно признаки (активность, история заказов, обращения в поддержку) влияют на отток.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 Ансамбли и стекинг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StackingClassifier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показали потенциал, но результаты зависят от точной настройки и подбора моделей.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Стекинг требует доработки, но способен улучшить финальное качество за счёт объединения сильных сторон разных подходов.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5403544" y="2635276"/>
            <a:ext cx="3616991" cy="2308324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1) Сделать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XGBoost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основной боевой моделью.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2)  Расширить интерпретацию признаков через SHAP или LIME.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3) Углубить анализ удерживаемости клиентов с помощью кластеризации по поведенческим паттернам, анализа причин оттока (частота заказов, рейтинг и.т.д.)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4) Продумать стратегию реагирования на предсказания (скидки, пуш-уведомления, персональные предложения).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3294" y="410156"/>
            <a:ext cx="2843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Лидеры по метрике PR-AUC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Стрелка: поворот вправо" id="256" name="Google Shape;25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2954" y="617015"/>
            <a:ext cx="280930" cy="28093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5419285" y="757480"/>
            <a:ext cx="3616991" cy="1785104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1400" u="sng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Финальный вывод:</a:t>
            </a:r>
            <a:endParaRPr/>
          </a:p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Модель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XGBoost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с балансировкой и оптимизацией порога обеспечивает наилучшее качество для задачи предиктивного удержания клиентов.</a:t>
            </a:r>
            <a:endParaRPr/>
          </a:p>
          <a:p>
            <a:pPr indent="180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Интерпретируемые модели полезны для аналитики и объяснимости, а ансамбли — для дополнительного прироста метрик при доработке.</a:t>
            </a:r>
            <a:endParaRPr/>
          </a:p>
        </p:txBody>
      </p:sp>
      <p:pic>
        <p:nvPicPr>
          <p:cNvPr descr="Голова с шестеренками" id="258" name="Google Shape;25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3055" y="73170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5602" y="2010429"/>
            <a:ext cx="5327374" cy="299518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type="title"/>
          </p:nvPr>
        </p:nvSpPr>
        <p:spPr>
          <a:xfrm>
            <a:off x="3289501" y="-4671"/>
            <a:ext cx="5327374" cy="5996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ML-модель для поиска лояльных клиентов «Машина времени»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178904" y="161321"/>
            <a:ext cx="3267788" cy="1384995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 нас есть модель машинного обучения, интегрированная в сайт. Она позволяет находить покупателей, которые с высокой вероятностью совершат повторную покупку. </a:t>
            </a:r>
            <a:endParaRPr/>
          </a:p>
        </p:txBody>
      </p:sp>
      <p:pic>
        <p:nvPicPr>
          <p:cNvPr descr="Целевая аудитория" id="266" name="Google Shape;26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9877" y="161322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3593078" y="788063"/>
            <a:ext cx="5213149" cy="1169551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Обучение производится </a:t>
            </a: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 использованием временного окна</a:t>
            </a: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— мы учимся на истории, чтобы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предсказывать будущее.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Мы стараемся максимально </a:t>
            </a: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контролировать утечки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делая модель честной и точной.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178904" y="3320263"/>
            <a:ext cx="3292553" cy="1600438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Реализована интерпретация предсказаний с помощью SHAP (SHapley Additive exPlanations) 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метода, позволяющего понять, </a:t>
            </a: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какие признаки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 в </a:t>
            </a:r>
            <a:r>
              <a:rPr b="0" i="0" lang="ru-RU" sz="14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какой степени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повлияли на конкретное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решение модели.</a:t>
            </a:r>
            <a:endParaRPr/>
          </a:p>
        </p:txBody>
      </p:sp>
      <p:pic>
        <p:nvPicPr>
          <p:cNvPr id="269" name="Google Shape;26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882" y="1712308"/>
            <a:ext cx="3277810" cy="1259492"/>
          </a:xfrm>
          <a:prstGeom prst="rect">
            <a:avLst/>
          </a:prstGeom>
          <a:noFill/>
          <a:ln cap="flat" cmpd="sng" w="1905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107724" y="29471"/>
            <a:ext cx="853905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ML-модель для поиска лояльных клиентов «Машина времени»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3769296" y="4024924"/>
            <a:ext cx="4897095" cy="646331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интерфейсе сайта, в разделе списка клиенты/прогноз можно наглядно убедиться в полезности данной механики: </a:t>
            </a:r>
            <a:r>
              <a:rPr b="0" i="0" lang="ru-RU" sz="1200" u="sng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https://goldenmean.pro/</a:t>
            </a:r>
            <a:endParaRPr b="0" i="0" sz="1200" u="none" cap="none" strike="noStrike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107724" y="3563260"/>
            <a:ext cx="3333573" cy="156966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Таким образом, модель адаптируется к различным сценариям работы с клиентами и остаётся управляемой на уровне бизнес-логики.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82191" y="457785"/>
            <a:ext cx="284389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Управление порогом массовости: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Голова с шестеренками" id="278" name="Google Shape;27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3055" y="73170"/>
            <a:ext cx="523220" cy="52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1296" y="617578"/>
            <a:ext cx="5502186" cy="3093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трелка: поворот вправо" id="280" name="Google Shape;28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3463" y="841378"/>
            <a:ext cx="255097" cy="25509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 txBox="1"/>
          <p:nvPr/>
        </p:nvSpPr>
        <p:spPr>
          <a:xfrm>
            <a:off x="31171" y="996460"/>
            <a:ext cx="3177813" cy="2123658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интерфейсе реализовано управление порогом срабатывания модели. Это позволяет гибко балансировать между Recall (охват) и Precision (точность) - в зависимости от задач бизнеса: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Для массовых акций и рассылок можно увеличить Recall.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Для VIP-предложений или деликатных напоминаний — повысить Precision.</a:t>
            </a:r>
            <a:endParaRPr/>
          </a:p>
        </p:txBody>
      </p:sp>
      <p:pic>
        <p:nvPicPr>
          <p:cNvPr descr="Разряд молнии" id="282" name="Google Shape;28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8483" y="3830651"/>
            <a:ext cx="465734" cy="46573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432820" y="3255483"/>
            <a:ext cx="8843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</a:t>
            </a:r>
            <a:endParaRPr/>
          </a:p>
        </p:txBody>
      </p:sp>
      <p:pic>
        <p:nvPicPr>
          <p:cNvPr descr="Стрелка: поворот вправо" id="284" name="Google Shape;28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0550" y="3376001"/>
            <a:ext cx="307777" cy="30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3689372" y="22266"/>
            <a:ext cx="4927503" cy="7314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ML-модели для прогнозирования оттока продавцов 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143912" y="141628"/>
            <a:ext cx="3289733" cy="1046440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научиться эффективно прогнозировать прекращение сотрудничества продавцов с нашей платформой продаж и доставки товаров.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Ковбой" id="291" name="Google Shape;2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9833" y="218390"/>
            <a:ext cx="535340" cy="5353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9"/>
          <p:cNvSpPr txBox="1"/>
          <p:nvPr/>
        </p:nvSpPr>
        <p:spPr>
          <a:xfrm>
            <a:off x="143911" y="1377167"/>
            <a:ext cx="8472963" cy="1815882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Учитывая, что пользователями нашего сервиса выступают </a:t>
            </a: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обе стороны рынка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— как покупатели, так и продавцы, важно отметить, что задачей текущего проекта является не отслеживание оттока покупателей от отдельных продавцов, а выявление факторов риска ухода самих продавцов из платформы в целом.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Для реализации поставленной цели воспользуемся специально подготовленным набором данных, содержащим информацию о продавцах, давно прекративших свою активность, а также о тех, кто длительное время находился без активных сделок перед наступлением аналогичного состояния. Проведённые эксперименты позволили оценить способность различных моделей предугадывать вероятность ухода клиентов-продавцов с платформы.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424" y="3673917"/>
            <a:ext cx="8150780" cy="957717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>
            <p:ph type="title"/>
          </p:nvPr>
        </p:nvSpPr>
        <p:spPr>
          <a:xfrm>
            <a:off x="4204252" y="22266"/>
            <a:ext cx="4412623" cy="7314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ML-модели для прогнозирования оттока продавцов </a:t>
            </a:r>
            <a:endParaRPr sz="2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Ковбой" id="299" name="Google Shape;2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9833" y="218390"/>
            <a:ext cx="535340" cy="53534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123895" y="153565"/>
            <a:ext cx="3384617" cy="1384995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Логистическая регрессия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(LogisticRegression) Показала высокое значение precision (точность равна 1.0), однако чрезвычайно низкий уровень recall (всего 0.07), что свидетельствует о слабой способности обнаруживать истинные позитивные события. 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795712" y="753730"/>
            <a:ext cx="4588044" cy="2237948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Нейронная сеть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(MLPClassifier) Первая версия нейронной сети продемонстрировала хороший balance между точностью и полнотой, хотя точность слегка уступала единице (precision ≈ 0.95), а full-recall составил 0.68. Значение F1 оказалось приемлемым (0.79), однако существовала тенденция к переобучению.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Улучшенная нейронная сеть</a:t>
            </a:r>
            <a:r>
              <a:rPr b="0" i="0" lang="ru-RU" sz="12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(MLPClassifier) Последняя попытка с нейронной сетью привела к отличным показателям: высокой точности (≈0.97) и абсолютному уровню полноты (recall = 1.0). F1-мера составила впечатляющие 0.98, подтвердив потенциал нейронных сетей.</a:t>
            </a:r>
            <a:b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123897" y="3406916"/>
            <a:ext cx="3817892" cy="1384995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Случайный лес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(RandomForestClassifier) Этот ансамбль показал почти идеальный balance между точностью и полнотой: precision равен 1.0, а recall составляет 0.86. Высокий показатель F1 приближён к 0.92, демонстрируя хорошие перспективы для практического применения.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123896" y="1736584"/>
            <a:ext cx="3285226" cy="1384995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Градиентный бустинг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(GradientBoostingClassifier) Эта модель превзошла предыдущие результаты, показывая отличную точность (precision = 1.0) и высокий recall (≈0.93). Благодаря этому достигнут самый высокий показатель F1 — 0.96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4204252" y="3406916"/>
            <a:ext cx="4860921" cy="156966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Из полученных результатов наиболее перспективными моделями выглядят </a:t>
            </a:r>
            <a:r>
              <a:rPr b="0" i="0" lang="ru-RU" sz="1200" u="none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случайный лес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и </a:t>
            </a:r>
            <a:r>
              <a:rPr b="0" i="0" lang="ru-RU" sz="1200" u="none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градиентный бустинг.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Эти модели демонстрируют стабильно высокие показатели во всех аспектах и подходят для внедрения в продакшен. Дальнейшие шаги включают улучшение используемых признаков, углубленную диагностику данных и возможное расширение размера обучающей выборки для предотвращения переобучения.</a:t>
            </a:r>
            <a:endParaRPr/>
          </a:p>
        </p:txBody>
      </p:sp>
      <p:pic>
        <p:nvPicPr>
          <p:cNvPr descr="Стрелка: поворот вправо" id="305" name="Google Shape;3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742" y="3169069"/>
            <a:ext cx="337930" cy="33793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3980103" y="3068674"/>
            <a:ext cx="11083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type="title"/>
          </p:nvPr>
        </p:nvSpPr>
        <p:spPr>
          <a:xfrm>
            <a:off x="3558210" y="22266"/>
            <a:ext cx="5058666" cy="7314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Допродажи и методы их увеличения</a:t>
            </a:r>
            <a:br>
              <a:rPr lang="ru-RU" sz="2000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000">
              <a:solidFill>
                <a:srgbClr val="FF4F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4939" y="840042"/>
            <a:ext cx="5052540" cy="1445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4939" y="2571750"/>
            <a:ext cx="1867067" cy="118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81479" y="2456061"/>
            <a:ext cx="3006000" cy="156454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/>
        </p:nvSpPr>
        <p:spPr>
          <a:xfrm>
            <a:off x="219011" y="133793"/>
            <a:ext cx="3607203" cy="738664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rgbClr val="77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 увеличение доли допродаж уже имеющимся клиентам с помощью методов ML.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707470" y="4042535"/>
            <a:ext cx="3498399" cy="1015663"/>
          </a:xfrm>
          <a:prstGeom prst="rect">
            <a:avLst/>
          </a:prstGeom>
          <a:noFill/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Как  и почему это будет работать в сфере телеком, а так же с примером реализации, можно ознакомиться на нашем сайте </a:t>
            </a:r>
            <a:r>
              <a:rPr b="0" i="0" lang="ru-RU" sz="1200" u="sng" cap="none" strike="noStrike">
                <a:solidFill>
                  <a:srgbClr val="FF4F12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https://goldenmean.pro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219011" y="1163407"/>
            <a:ext cx="3339198" cy="830997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Проводим кластеризацию уже имеющихся клиентов с помощью методов ML (в нашем примере K-means)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219000" y="2365528"/>
            <a:ext cx="3339300" cy="101580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Вновь пришедший клиент, на основании его покупки и социально-демографическим признакам распределяется в один из кластеров</a:t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219011" y="3570744"/>
            <a:ext cx="3339198" cy="1015663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Получаем получить четкую и автоматизированную систему рекомендаций для персонала — какой товар или услугу, какому клиенту и в какое время предлагать. </a:t>
            </a:r>
            <a:endParaRPr b="0" i="0" sz="1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Монеты" id="320" name="Google Shape;32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937" y="182806"/>
            <a:ext cx="498294" cy="49829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/>
          <p:nvPr/>
        </p:nvSpPr>
        <p:spPr>
          <a:xfrm>
            <a:off x="1709881" y="2078456"/>
            <a:ext cx="188668" cy="28705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1709881" y="3227625"/>
            <a:ext cx="188668" cy="3120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700FF"/>
          </a:solidFill>
          <a:ln cap="flat" cmpd="sng" w="25400">
            <a:solidFill>
              <a:srgbClr val="77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