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2" r:id="rId2"/>
    <p:sldId id="258" r:id="rId3"/>
    <p:sldId id="259" r:id="rId4"/>
    <p:sldId id="261" r:id="rId5"/>
    <p:sldId id="265" r:id="rId6"/>
    <p:sldId id="263" r:id="rId7"/>
    <p:sldId id="269" r:id="rId8"/>
    <p:sldId id="267" r:id="rId9"/>
    <p:sldId id="268" r:id="rId10"/>
    <p:sldId id="270" r:id="rId11"/>
    <p:sldId id="273" r:id="rId12"/>
    <p:sldId id="274" r:id="rId13"/>
    <p:sldId id="271" r:id="rId14"/>
    <p:sldId id="272" r:id="rId1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inius" initials="K" lastIdx="1" clrIdx="0">
    <p:extLst>
      <p:ext uri="{19B8F6BF-5375-455C-9EA6-DF929625EA0E}">
        <p15:presenceInfo xmlns:p15="http://schemas.microsoft.com/office/powerpoint/2012/main" userId="Konstanini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B"/>
    <a:srgbClr val="7700FF"/>
    <a:srgbClr val="97ABBE"/>
    <a:srgbClr val="FF4F12"/>
    <a:srgbClr val="0072BC"/>
    <a:srgbClr val="A7B8D2"/>
    <a:srgbClr val="DEB5EE"/>
    <a:srgbClr val="F4B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002" autoAdjust="0"/>
  </p:normalViewPr>
  <p:slideViewPr>
    <p:cSldViewPr snapToGrid="0">
      <p:cViewPr varScale="1">
        <p:scale>
          <a:sx n="96" d="100"/>
          <a:sy n="96" d="100"/>
        </p:scale>
        <p:origin x="63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19T13:10:33.452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b5afadb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3b5afadb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3b5afad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d3b5afad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3b5afadb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3b5afadb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3b5afadb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3b5afadb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b5afadb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3b5afadb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582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3b5afadb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3b5afadb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3b5afadb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3b5afadb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582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3b5afadb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3b5afadb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352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3b5afadb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3b5afadb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73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3b5afadb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3b5afadb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810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b5afadb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3b5afadb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809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3b5afadb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3b5afadb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9726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b5afadb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3b5afadb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7221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b5afadb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3b5afadb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898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comments" Target="../comments/comment1.xml"/><Relationship Id="rId3" Type="http://schemas.openxmlformats.org/officeDocument/2006/relationships/image" Target="../media/image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7.sv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1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hyperlink" Target="https://goldenmean.pr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1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11" Type="http://schemas.openxmlformats.org/officeDocument/2006/relationships/image" Target="../media/image77.png"/><Relationship Id="rId5" Type="http://schemas.openxmlformats.org/officeDocument/2006/relationships/image" Target="../media/image60.png"/><Relationship Id="rId10" Type="http://schemas.openxmlformats.org/officeDocument/2006/relationships/image" Target="../media/image76.svg"/><Relationship Id="rId4" Type="http://schemas.openxmlformats.org/officeDocument/2006/relationships/image" Target="../media/image72.png"/><Relationship Id="rId9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oldenmean.pro/" TargetMode="External"/><Relationship Id="rId13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82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5.png"/><Relationship Id="rId5" Type="http://schemas.openxmlformats.org/officeDocument/2006/relationships/image" Target="../media/image80.svg"/><Relationship Id="rId10" Type="http://schemas.openxmlformats.org/officeDocument/2006/relationships/image" Target="../media/image84.svg"/><Relationship Id="rId4" Type="http://schemas.openxmlformats.org/officeDocument/2006/relationships/image" Target="../media/image79.png"/><Relationship Id="rId9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10" Type="http://schemas.openxmlformats.org/officeDocument/2006/relationships/image" Target="../media/image94.sv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jpg"/><Relationship Id="rId5" Type="http://schemas.openxmlformats.org/officeDocument/2006/relationships/image" Target="../media/image96.jpg"/><Relationship Id="rId4" Type="http://schemas.openxmlformats.org/officeDocument/2006/relationships/image" Target="../media/image95.jpg"/><Relationship Id="rId9" Type="http://schemas.openxmlformats.org/officeDocument/2006/relationships/image" Target="../media/image10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sv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B6AFA70-9404-498B-A0E0-E8B5A1BB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371600"/>
            <a:ext cx="8520600" cy="2594344"/>
          </a:xfrm>
        </p:spPr>
        <p:txBody>
          <a:bodyPr>
            <a:normAutofit fontScale="9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Разработка аналитического приложения для прогнозирования оттока клиентов и анализа розничных продаж</a:t>
            </a:r>
            <a:b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rgbClr val="7700FF"/>
                </a:solidFill>
                <a:effectLst/>
                <a:uLnTx/>
                <a:uFillTx/>
                <a:latin typeface="Century Gothic" panose="020B0502020202020204" pitchFamily="34" charset="0"/>
                <a:ea typeface="Roboto"/>
                <a:cs typeface="Roboto"/>
                <a:sym typeface="Roboto"/>
              </a:rPr>
            </a:br>
            <a:b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rgbClr val="7700FF"/>
                </a:solidFill>
                <a:effectLst/>
                <a:uLnTx/>
                <a:uFillTx/>
                <a:latin typeface="Century Gothic" panose="020B0502020202020204" pitchFamily="34" charset="0"/>
                <a:ea typeface="Roboto"/>
                <a:cs typeface="Roboto"/>
                <a:sym typeface="Roboto"/>
              </a:rPr>
            </a:br>
            <a:b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4285F4">
                    <a:lumMod val="40000"/>
                    <a:lumOff val="6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Roboto"/>
                <a:cs typeface="Roboto"/>
                <a:sym typeface="Roboto"/>
              </a:rPr>
            </a:b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D4131F-4C65-4044-9BDC-2B97C5632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897" y="3271327"/>
            <a:ext cx="1877987" cy="18721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A942B2-1985-4C07-B54F-AA606364F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152" y="3419918"/>
            <a:ext cx="2550901" cy="1723582"/>
          </a:xfrm>
          <a:prstGeom prst="rect">
            <a:avLst/>
          </a:prstGeom>
        </p:spPr>
      </p:pic>
      <p:pic>
        <p:nvPicPr>
          <p:cNvPr id="19" name="Рисунок 18" descr="Тенденция к повышению">
            <a:extLst>
              <a:ext uri="{FF2B5EF4-FFF2-40B4-BE49-F238E27FC236}">
                <a16:creationId xmlns:a16="http://schemas.microsoft.com/office/drawing/2014/main" id="{92DDA952-0E02-4525-A49A-E0527297CA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7405" y="71600"/>
            <a:ext cx="458595" cy="458595"/>
          </a:xfrm>
          <a:prstGeom prst="rect">
            <a:avLst/>
          </a:prstGeom>
        </p:spPr>
      </p:pic>
      <p:pic>
        <p:nvPicPr>
          <p:cNvPr id="21" name="Рисунок 20" descr="Статистика">
            <a:extLst>
              <a:ext uri="{FF2B5EF4-FFF2-40B4-BE49-F238E27FC236}">
                <a16:creationId xmlns:a16="http://schemas.microsoft.com/office/drawing/2014/main" id="{9B37420A-E344-486A-A7C6-68F8A1ECE5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1785" y="71600"/>
            <a:ext cx="458595" cy="458595"/>
          </a:xfrm>
          <a:prstGeom prst="rect">
            <a:avLst/>
          </a:prstGeom>
        </p:spPr>
      </p:pic>
      <p:pic>
        <p:nvPicPr>
          <p:cNvPr id="23" name="Рисунок 22" descr="Грабитель">
            <a:extLst>
              <a:ext uri="{FF2B5EF4-FFF2-40B4-BE49-F238E27FC236}">
                <a16:creationId xmlns:a16="http://schemas.microsoft.com/office/drawing/2014/main" id="{79BEC09A-E1FD-4B4C-8EEE-32E8215F3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3357" y="79167"/>
            <a:ext cx="458595" cy="458595"/>
          </a:xfrm>
          <a:prstGeom prst="rect">
            <a:avLst/>
          </a:prstGeom>
        </p:spPr>
      </p:pic>
      <p:pic>
        <p:nvPicPr>
          <p:cNvPr id="25" name="Рисунок 24" descr="Земной шар с очертаниями Азии">
            <a:extLst>
              <a:ext uri="{FF2B5EF4-FFF2-40B4-BE49-F238E27FC236}">
                <a16:creationId xmlns:a16="http://schemas.microsoft.com/office/drawing/2014/main" id="{379C2F1C-0C79-4624-BBCC-DCBC936FF4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22776" y="50217"/>
            <a:ext cx="458594" cy="458594"/>
          </a:xfrm>
          <a:prstGeom prst="rect">
            <a:avLst/>
          </a:prstGeom>
        </p:spPr>
      </p:pic>
      <p:pic>
        <p:nvPicPr>
          <p:cNvPr id="27" name="Рисунок 26" descr="Единорог">
            <a:extLst>
              <a:ext uri="{FF2B5EF4-FFF2-40B4-BE49-F238E27FC236}">
                <a16:creationId xmlns:a16="http://schemas.microsoft.com/office/drawing/2014/main" id="{3C26595F-8856-4421-A10B-9252458CB7E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81370" y="21266"/>
            <a:ext cx="458594" cy="4585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4614844" y="148073"/>
            <a:ext cx="3755827" cy="5280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Golgen</a:t>
            </a:r>
            <a:r>
              <a:rPr lang="en-US" sz="32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Mean</a:t>
            </a:r>
            <a:br>
              <a:rPr lang="ru-RU" sz="36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</a:br>
            <a:r>
              <a:rPr lang="ru-RU" sz="14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состав команды</a:t>
            </a:r>
            <a:endParaRPr sz="14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211459" y="636176"/>
            <a:ext cx="2245065" cy="1576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ts val="116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000" dirty="0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Алимова Елена </a:t>
            </a:r>
          </a:p>
          <a:p>
            <a:pPr marL="0" lvl="0" indent="0" algn="r" rtl="0">
              <a:lnSpc>
                <a:spcPct val="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Analyst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Т</a:t>
            </a:r>
            <a:r>
              <a:rPr lang="en-US" sz="1400" dirty="0" err="1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eam</a:t>
            </a: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lead</a:t>
            </a:r>
          </a:p>
          <a:p>
            <a:pPr marL="0" lvl="0" indent="0" algn="r" rtl="0">
              <a:lnSpc>
                <a:spcPts val="56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ru-RU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ts val="56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None/>
            </a:pPr>
            <a:endParaRPr lang="en-US" sz="1200" b="1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0" indent="0" algn="r" rtl="0">
              <a:lnSpc>
                <a:spcPts val="56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Рисунок 5" descr="Статистика">
            <a:extLst>
              <a:ext uri="{FF2B5EF4-FFF2-40B4-BE49-F238E27FC236}">
                <a16:creationId xmlns:a16="http://schemas.microsoft.com/office/drawing/2014/main" id="{27798161-DA2F-4E97-8DF2-CD9F84D01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1153" y="3923067"/>
            <a:ext cx="651194" cy="502896"/>
          </a:xfrm>
          <a:prstGeom prst="rect">
            <a:avLst/>
          </a:prstGeom>
        </p:spPr>
      </p:pic>
      <p:pic>
        <p:nvPicPr>
          <p:cNvPr id="8" name="Рисунок 7" descr="Презентация с линейчатой диаграммой">
            <a:extLst>
              <a:ext uri="{FF2B5EF4-FFF2-40B4-BE49-F238E27FC236}">
                <a16:creationId xmlns:a16="http://schemas.microsoft.com/office/drawing/2014/main" id="{632C45E3-E99F-47FC-B7BB-C45B3A9525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4663" y="1626813"/>
            <a:ext cx="525229" cy="498058"/>
          </a:xfrm>
          <a:prstGeom prst="rect">
            <a:avLst/>
          </a:prstGeom>
        </p:spPr>
      </p:pic>
      <p:pic>
        <p:nvPicPr>
          <p:cNvPr id="16" name="Рисунок 15" descr="Шестеренки">
            <a:extLst>
              <a:ext uri="{FF2B5EF4-FFF2-40B4-BE49-F238E27FC236}">
                <a16:creationId xmlns:a16="http://schemas.microsoft.com/office/drawing/2014/main" id="{A2E41703-4F54-4615-8438-D3F53D4497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8478" y="1891788"/>
            <a:ext cx="700312" cy="581476"/>
          </a:xfrm>
          <a:prstGeom prst="rect">
            <a:avLst/>
          </a:prstGeom>
        </p:spPr>
      </p:pic>
      <p:pic>
        <p:nvPicPr>
          <p:cNvPr id="18" name="Рисунок 17" descr="Сборник схем">
            <a:extLst>
              <a:ext uri="{FF2B5EF4-FFF2-40B4-BE49-F238E27FC236}">
                <a16:creationId xmlns:a16="http://schemas.microsoft.com/office/drawing/2014/main" id="{C7D90276-12DB-4DAF-B970-24E46BC8D3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6637" y="2304931"/>
            <a:ext cx="562830" cy="519897"/>
          </a:xfrm>
          <a:prstGeom prst="rect">
            <a:avLst/>
          </a:prstGeom>
        </p:spPr>
      </p:pic>
      <p:pic>
        <p:nvPicPr>
          <p:cNvPr id="20" name="Рисунок 19" descr="Социальная сеть">
            <a:extLst>
              <a:ext uri="{FF2B5EF4-FFF2-40B4-BE49-F238E27FC236}">
                <a16:creationId xmlns:a16="http://schemas.microsoft.com/office/drawing/2014/main" id="{0D863613-A014-4148-AB56-1C8E9D0C35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95072" y="3364327"/>
            <a:ext cx="639543" cy="602458"/>
          </a:xfrm>
          <a:prstGeom prst="rect">
            <a:avLst/>
          </a:prstGeom>
        </p:spPr>
      </p:pic>
      <p:pic>
        <p:nvPicPr>
          <p:cNvPr id="22" name="Рисунок 21" descr="Расширение бизнеса">
            <a:extLst>
              <a:ext uri="{FF2B5EF4-FFF2-40B4-BE49-F238E27FC236}">
                <a16:creationId xmlns:a16="http://schemas.microsoft.com/office/drawing/2014/main" id="{57A8BE69-2A94-47FF-B813-2166F49E204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4918" y="895220"/>
            <a:ext cx="655830" cy="6362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A2877BB-A820-4BE9-AFE0-04448CCACCC3}"/>
              </a:ext>
            </a:extLst>
          </p:cNvPr>
          <p:cNvSpPr txBox="1"/>
          <p:nvPr/>
        </p:nvSpPr>
        <p:spPr>
          <a:xfrm>
            <a:off x="3836624" y="2258439"/>
            <a:ext cx="1416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38" name="Google Shape;65;p15">
            <a:extLst>
              <a:ext uri="{FF2B5EF4-FFF2-40B4-BE49-F238E27FC236}">
                <a16:creationId xmlns:a16="http://schemas.microsoft.com/office/drawing/2014/main" id="{C53BD4B3-8090-4958-96C7-3D4E04D665EF}"/>
              </a:ext>
            </a:extLst>
          </p:cNvPr>
          <p:cNvSpPr txBox="1">
            <a:spLocks/>
          </p:cNvSpPr>
          <p:nvPr/>
        </p:nvSpPr>
        <p:spPr>
          <a:xfrm>
            <a:off x="3210975" y="1282295"/>
            <a:ext cx="2458365" cy="134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lnSpc>
                <a:spcPts val="1160"/>
              </a:lnSpc>
              <a:spcAft>
                <a:spcPts val="1200"/>
              </a:spcAft>
              <a:buFont typeface="Arial"/>
              <a:buNone/>
            </a:pPr>
            <a:r>
              <a:rPr lang="ru-RU" sz="2000" dirty="0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Зырянов Алексей </a:t>
            </a:r>
            <a:endParaRPr lang="ru-RU" sz="20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F</a:t>
            </a:r>
            <a:r>
              <a:rPr lang="ru-RU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\В </a:t>
            </a: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developer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i="0" dirty="0">
                <a:solidFill>
                  <a:srgbClr val="587996"/>
                </a:solidFill>
                <a:effectLst/>
                <a:latin typeface="Century Gothic" panose="020B0502020202020204" pitchFamily="34" charset="0"/>
                <a:ea typeface="Roboto"/>
                <a:sym typeface="Roboto"/>
              </a:rPr>
              <a:t>ML Engineer</a:t>
            </a: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Analyst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en-US" sz="1200" i="0" dirty="0">
              <a:solidFill>
                <a:srgbClr val="587996"/>
              </a:solidFill>
              <a:effectLst/>
              <a:latin typeface="Century Gothic" panose="020B0502020202020204" pitchFamily="34" charset="0"/>
              <a:ea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ru-RU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65;p15">
            <a:extLst>
              <a:ext uri="{FF2B5EF4-FFF2-40B4-BE49-F238E27FC236}">
                <a16:creationId xmlns:a16="http://schemas.microsoft.com/office/drawing/2014/main" id="{CA3998DC-9DD8-405A-8AEB-9F12E51CFB93}"/>
              </a:ext>
            </a:extLst>
          </p:cNvPr>
          <p:cNvSpPr txBox="1">
            <a:spLocks/>
          </p:cNvSpPr>
          <p:nvPr/>
        </p:nvSpPr>
        <p:spPr>
          <a:xfrm>
            <a:off x="5844027" y="1580462"/>
            <a:ext cx="2774658" cy="94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lnSpc>
                <a:spcPts val="1160"/>
              </a:lnSpc>
              <a:spcAft>
                <a:spcPts val="1200"/>
              </a:spcAft>
              <a:buFont typeface="Arial"/>
              <a:buNone/>
            </a:pPr>
            <a:r>
              <a:rPr lang="ru-RU" sz="2000" dirty="0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Широбоков Михаил </a:t>
            </a: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None/>
            </a:pPr>
            <a:r>
              <a:rPr lang="en-US" sz="1400" i="0" dirty="0">
                <a:solidFill>
                  <a:srgbClr val="587996"/>
                </a:solidFill>
                <a:effectLst/>
                <a:latin typeface="Century Gothic" panose="020B0502020202020204" pitchFamily="34" charset="0"/>
                <a:ea typeface="Roboto"/>
                <a:sym typeface="Roboto"/>
              </a:rPr>
              <a:t>ML Engineer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Analyst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</a:t>
            </a:r>
            <a:r>
              <a:rPr lang="en-US" sz="1400" i="0" dirty="0">
                <a:solidFill>
                  <a:srgbClr val="587996"/>
                </a:solidFill>
                <a:effectLst/>
                <a:latin typeface="Century Gothic" panose="020B0502020202020204" pitchFamily="34" charset="0"/>
                <a:ea typeface="Roboto"/>
                <a:sym typeface="Roboto"/>
              </a:rPr>
              <a:t>Engineer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en-US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ru-RU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b="1" dirty="0">
              <a:solidFill>
                <a:srgbClr val="000000"/>
              </a:solidFill>
              <a:latin typeface="Inter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65;p15">
            <a:extLst>
              <a:ext uri="{FF2B5EF4-FFF2-40B4-BE49-F238E27FC236}">
                <a16:creationId xmlns:a16="http://schemas.microsoft.com/office/drawing/2014/main" id="{CDFCF8F8-BDB4-4873-B938-C7E51EF2EC32}"/>
              </a:ext>
            </a:extLst>
          </p:cNvPr>
          <p:cNvSpPr txBox="1">
            <a:spLocks/>
          </p:cNvSpPr>
          <p:nvPr/>
        </p:nvSpPr>
        <p:spPr>
          <a:xfrm>
            <a:off x="46912" y="3662939"/>
            <a:ext cx="2987749" cy="112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lnSpc>
                <a:spcPts val="1160"/>
              </a:lnSpc>
              <a:spcAft>
                <a:spcPts val="1200"/>
              </a:spcAft>
              <a:buFont typeface="Arial"/>
              <a:buNone/>
            </a:pPr>
            <a:r>
              <a:rPr lang="ru-RU" sz="2000" dirty="0" err="1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Синикина</a:t>
            </a:r>
            <a:r>
              <a:rPr lang="ru-RU" sz="2000" dirty="0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Анастасия </a:t>
            </a: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Analyst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BI Developer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ru-RU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b="1" dirty="0">
              <a:solidFill>
                <a:srgbClr val="000000"/>
              </a:solidFill>
              <a:latin typeface="Inter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65;p15">
            <a:extLst>
              <a:ext uri="{FF2B5EF4-FFF2-40B4-BE49-F238E27FC236}">
                <a16:creationId xmlns:a16="http://schemas.microsoft.com/office/drawing/2014/main" id="{B514FEFB-9069-4A4C-8B71-AC4434E95B00}"/>
              </a:ext>
            </a:extLst>
          </p:cNvPr>
          <p:cNvSpPr txBox="1">
            <a:spLocks/>
          </p:cNvSpPr>
          <p:nvPr/>
        </p:nvSpPr>
        <p:spPr>
          <a:xfrm>
            <a:off x="3266569" y="3080615"/>
            <a:ext cx="3070303" cy="112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lnSpc>
                <a:spcPts val="1160"/>
              </a:lnSpc>
              <a:spcAft>
                <a:spcPts val="1200"/>
              </a:spcAft>
              <a:buFont typeface="Arial"/>
              <a:buNone/>
            </a:pPr>
            <a:r>
              <a:rPr lang="ru-RU" sz="2000" dirty="0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Городничева Наталья</a:t>
            </a: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Analyst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</a:t>
            </a:r>
            <a:r>
              <a:rPr lang="en-US" sz="1400" i="0" dirty="0">
                <a:solidFill>
                  <a:srgbClr val="587996"/>
                </a:solidFill>
                <a:effectLst/>
                <a:latin typeface="Century Gothic" panose="020B0502020202020204" pitchFamily="34" charset="0"/>
                <a:ea typeface="Roboto"/>
                <a:sym typeface="Roboto"/>
              </a:rPr>
              <a:t>Engineer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None/>
            </a:pPr>
            <a:r>
              <a:rPr lang="en-US" sz="1400" i="0" dirty="0">
                <a:solidFill>
                  <a:srgbClr val="587996"/>
                </a:solidFill>
                <a:effectLst/>
                <a:latin typeface="Century Gothic" panose="020B0502020202020204" pitchFamily="34" charset="0"/>
                <a:ea typeface="Roboto"/>
                <a:sym typeface="Roboto"/>
              </a:rPr>
              <a:t>ML Engineer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b="1" dirty="0">
              <a:solidFill>
                <a:srgbClr val="000000"/>
              </a:solidFill>
              <a:latin typeface="Inter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65;p15">
            <a:extLst>
              <a:ext uri="{FF2B5EF4-FFF2-40B4-BE49-F238E27FC236}">
                <a16:creationId xmlns:a16="http://schemas.microsoft.com/office/drawing/2014/main" id="{3F3485E9-1BD4-42E9-80A2-4E6ABD764D4C}"/>
              </a:ext>
            </a:extLst>
          </p:cNvPr>
          <p:cNvSpPr txBox="1">
            <a:spLocks/>
          </p:cNvSpPr>
          <p:nvPr/>
        </p:nvSpPr>
        <p:spPr>
          <a:xfrm>
            <a:off x="5022" y="2054034"/>
            <a:ext cx="3174203" cy="112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lnSpc>
                <a:spcPts val="1160"/>
              </a:lnSpc>
              <a:spcAft>
                <a:spcPts val="1200"/>
              </a:spcAft>
              <a:buFont typeface="Arial"/>
              <a:buNone/>
            </a:pPr>
            <a:r>
              <a:rPr lang="ru-RU" sz="2000" dirty="0">
                <a:solidFill>
                  <a:srgbClr val="7700FF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Емельянова Екатерина </a:t>
            </a: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Data Analyst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ct val="50000"/>
              </a:lnSpc>
              <a:spcAft>
                <a:spcPts val="600"/>
              </a:spcAft>
              <a:buFont typeface="Arial"/>
              <a:buNone/>
            </a:pPr>
            <a:r>
              <a:rPr lang="en-US" sz="1400" dirty="0">
                <a:solidFill>
                  <a:srgbClr val="587996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BI Developer</a:t>
            </a:r>
            <a:endParaRPr lang="ru-RU" sz="1400" dirty="0">
              <a:solidFill>
                <a:srgbClr val="587996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ru-RU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b="1" dirty="0">
              <a:solidFill>
                <a:srgbClr val="000000"/>
              </a:solidFill>
              <a:latin typeface="Inter"/>
            </a:endParaRPr>
          </a:p>
          <a:p>
            <a:pPr marL="0" indent="0" algn="r">
              <a:lnSpc>
                <a:spcPts val="560"/>
              </a:lnSpc>
              <a:spcAft>
                <a:spcPts val="1200"/>
              </a:spcAft>
              <a:buFont typeface="Arial"/>
              <a:buNone/>
            </a:pPr>
            <a:endParaRPr lang="en-US" sz="1200" dirty="0">
              <a:solidFill>
                <a:srgbClr val="58799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Рисунок 2" descr="Подключения">
            <a:extLst>
              <a:ext uri="{FF2B5EF4-FFF2-40B4-BE49-F238E27FC236}">
                <a16:creationId xmlns:a16="http://schemas.microsoft.com/office/drawing/2014/main" id="{6E81975A-107A-4CCC-8E6A-5BC049EB42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70671" y="238110"/>
            <a:ext cx="561870" cy="561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1350335" y="-4269"/>
            <a:ext cx="7166346" cy="3845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FF4F12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  <a:sym typeface="Roboto"/>
              </a:rPr>
              <a:t>Задачи, варианты решения, план работы</a:t>
            </a:r>
            <a:endParaRPr lang="ru-RU" sz="24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A5060B-E3B5-425C-8334-8E894ED90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8" y="527651"/>
            <a:ext cx="7602279" cy="461584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14663B-D340-498D-8765-8AF170157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646" y="2036555"/>
            <a:ext cx="1254115" cy="6729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FB9173-0D0C-4F67-8E2E-B296767BA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638" y="760534"/>
            <a:ext cx="1309123" cy="900022"/>
          </a:xfrm>
          <a:prstGeom prst="rect">
            <a:avLst/>
          </a:prstGeom>
        </p:spPr>
      </p:pic>
      <p:pic>
        <p:nvPicPr>
          <p:cNvPr id="3" name="Рисунок 2" descr="Мозговой штурм группы">
            <a:extLst>
              <a:ext uri="{FF2B5EF4-FFF2-40B4-BE49-F238E27FC236}">
                <a16:creationId xmlns:a16="http://schemas.microsoft.com/office/drawing/2014/main" id="{06287718-5C0E-4967-90F5-78253D8C6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95414" y="-46507"/>
            <a:ext cx="574158" cy="5741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0" y="4233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4F12"/>
                </a:solidFill>
                <a:latin typeface="Century Gothic" panose="020B0502020202020204" pitchFamily="34" charset="0"/>
              </a:rPr>
              <a:t>C</a:t>
            </a:r>
            <a:r>
              <a:rPr lang="ru-RU" b="0" i="0" dirty="0">
                <a:solidFill>
                  <a:srgbClr val="FF4F12"/>
                </a:solidFill>
                <a:effectLst/>
                <a:latin typeface="Century Gothic" panose="020B0502020202020204" pitchFamily="34" charset="0"/>
              </a:rPr>
              <a:t>тек технологий</a:t>
            </a:r>
            <a:endParaRPr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4FA016-C93D-4455-8DA5-272CC0541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18" y="-451441"/>
            <a:ext cx="2694910" cy="26949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2BB620-8807-4F05-B29D-59050430BD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582" y="2756156"/>
            <a:ext cx="1277150" cy="72242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2867816-B847-468A-AD26-DBCF8038F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984" y="2126309"/>
            <a:ext cx="1956022" cy="88021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71223C0-16D9-4E29-83EE-05848A90E5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880" y="791638"/>
            <a:ext cx="1627393" cy="162739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A956893-B368-4EE4-9DB2-7035D27134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4602" y="1595821"/>
            <a:ext cx="1864896" cy="56470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B474741-AB83-46EB-B0BB-3BAB48D526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349" y="1936639"/>
            <a:ext cx="2004783" cy="96229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F5EE916-0233-4B48-B50C-4287DB6B33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6971" y="2210283"/>
            <a:ext cx="2147828" cy="71226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2F1CD2C-D390-438B-A505-36B6176748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1250" y="631025"/>
            <a:ext cx="1654044" cy="89700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D153FE5-56E3-4DEF-9FAD-1A7BAE4C6A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880" y="4315717"/>
            <a:ext cx="4070457" cy="49541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2477950-DB6E-4AB4-B444-C8CE9A1325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2715" y="805246"/>
            <a:ext cx="1748056" cy="87402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06C912A-3AC5-4FA4-8D77-9DF516CCBEA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0119" y="2230567"/>
            <a:ext cx="1004379" cy="103534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B8AC15A-4A28-4FC7-A28E-5733CF1F98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9589" y="3046791"/>
            <a:ext cx="2133694" cy="107634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59943DE-27A9-4EFF-8B99-9BE2F92E43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9706" y="3831768"/>
            <a:ext cx="1654044" cy="1654044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75300E8-1BA1-401F-B9AE-4B31F8A3DA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1071" y="1869486"/>
            <a:ext cx="990519" cy="990519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E0609BB-7A4C-47E1-B9C1-FC3B942C3C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82" y="3091139"/>
            <a:ext cx="2245220" cy="76711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C4A0C7-650F-4796-869C-FF618381211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21006" y="3134630"/>
            <a:ext cx="2780620" cy="11676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835D18-D795-476F-9961-48F88CF0604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43208" y="1197443"/>
            <a:ext cx="1392198" cy="481831"/>
          </a:xfrm>
          <a:prstGeom prst="rect">
            <a:avLst/>
          </a:prstGeom>
        </p:spPr>
      </p:pic>
      <p:pic>
        <p:nvPicPr>
          <p:cNvPr id="4" name="Рисунок 3" descr="Фрагменты головоломки">
            <a:extLst>
              <a:ext uri="{FF2B5EF4-FFF2-40B4-BE49-F238E27FC236}">
                <a16:creationId xmlns:a16="http://schemas.microsoft.com/office/drawing/2014/main" id="{52D5BCC5-AA71-491A-AB6A-C53B69B9B13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35154" y="0"/>
            <a:ext cx="631025" cy="631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5152021" y="117425"/>
            <a:ext cx="34947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Работа с данными</a:t>
            </a:r>
            <a:endParaRPr sz="24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162849" y="2293035"/>
            <a:ext cx="3286343" cy="2757430"/>
          </a:xfrm>
          <a:prstGeom prst="rect">
            <a:avLst/>
          </a:prstGeom>
          <a:ln>
            <a:solidFill>
              <a:srgbClr val="7700FF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Часть выяленных проблем: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- 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order_payments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- 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затроились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данные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- 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orders_items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- задвоились некоторые столбцы и из-за этого добавились частично пустые строки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- часть заказов в статусе 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unavailable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(недоступно) или 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canceled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(отменено) - оплата есть(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order_payments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), но данных по заказу не было (</a:t>
            </a:r>
            <a:r>
              <a:rPr lang="ru-RU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orders_items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)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- отсутствует информация по возврату средств в случае отмены заказов</a:t>
            </a:r>
            <a:endParaRPr sz="11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E38267-4096-434C-86A2-90FEB0BB4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89" y="519066"/>
            <a:ext cx="3088869" cy="1770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FB45E3-2C38-4636-B20B-E5145B360357}"/>
              </a:ext>
            </a:extLst>
          </p:cNvPr>
          <p:cNvSpPr txBox="1"/>
          <p:nvPr/>
        </p:nvSpPr>
        <p:spPr>
          <a:xfrm>
            <a:off x="1811823" y="196120"/>
            <a:ext cx="1648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Исходная БД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5D77C5-F798-48AD-AD51-6C1068264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252" y="1128610"/>
            <a:ext cx="5478069" cy="3772999"/>
          </a:xfrm>
          <a:prstGeom prst="rect">
            <a:avLst/>
          </a:prstGeom>
        </p:spPr>
      </p:pic>
      <p:pic>
        <p:nvPicPr>
          <p:cNvPr id="8" name="Рисунок 7" descr="База данных">
            <a:extLst>
              <a:ext uri="{FF2B5EF4-FFF2-40B4-BE49-F238E27FC236}">
                <a16:creationId xmlns:a16="http://schemas.microsoft.com/office/drawing/2014/main" id="{0A19ADF4-7D9A-4BA5-AEBE-D82DD9D869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6322" y="98169"/>
            <a:ext cx="591956" cy="5919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6D3DF7-C8F3-4A9F-B25B-2FE23D55252A}"/>
              </a:ext>
            </a:extLst>
          </p:cNvPr>
          <p:cNvSpPr txBox="1"/>
          <p:nvPr/>
        </p:nvSpPr>
        <p:spPr>
          <a:xfrm>
            <a:off x="2576437" y="602696"/>
            <a:ext cx="325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БД в процессе работы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9FECE3B0-E1E5-4681-99F1-067CD7BA3891}"/>
              </a:ext>
            </a:extLst>
          </p:cNvPr>
          <p:cNvSpPr/>
          <p:nvPr/>
        </p:nvSpPr>
        <p:spPr>
          <a:xfrm>
            <a:off x="3157870" y="515266"/>
            <a:ext cx="159488" cy="174860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01DDABFB-239D-4B6E-874D-602411D572EF}"/>
              </a:ext>
            </a:extLst>
          </p:cNvPr>
          <p:cNvSpPr/>
          <p:nvPr/>
        </p:nvSpPr>
        <p:spPr>
          <a:xfrm>
            <a:off x="5487060" y="908262"/>
            <a:ext cx="178246" cy="202019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53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F0CF88-CBF2-4900-ACF2-E70537B89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710" y="802689"/>
            <a:ext cx="6010443" cy="3413005"/>
          </a:xfrm>
          <a:prstGeom prst="rect">
            <a:avLst/>
          </a:prstGeom>
        </p:spPr>
      </p:pic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6315738" y="44504"/>
            <a:ext cx="2112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АВС анализ </a:t>
            </a:r>
            <a:endParaRPr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0" y="2094691"/>
            <a:ext cx="3168502" cy="203074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5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Основные итоги:</a:t>
            </a:r>
          </a:p>
          <a:p>
            <a:pPr marL="114300" indent="180000" rtl="0" fontAlgn="base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4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Товары, попавшие в категорию A: </a:t>
            </a:r>
            <a:r>
              <a:rPr lang="ru-RU" sz="42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Количество наименований товаров, попавших в категорию A: 17. Товары категории A занимают 22.97% от всех товаров, и приносят около 79.62% прибыли</a:t>
            </a:r>
            <a:endParaRPr lang="ru-RU" sz="4200" b="0" i="0" u="none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114300" indent="180000" rtl="0" fontAlgn="base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4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 Товары, попавшие в категорию B</a:t>
            </a:r>
            <a:r>
              <a:rPr lang="ru-RU" sz="42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Количество наименований товаров, попавших в категорию B: 16 . Товары категории B занимают 21.62% от всех товаров, и приносят около 15.21% прибыли </a:t>
            </a:r>
            <a:endParaRPr lang="ru-RU" sz="4200" b="0" i="0" u="none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11430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5" name="Рисунок 4" descr="Круговая диаграмма">
            <a:extLst>
              <a:ext uri="{FF2B5EF4-FFF2-40B4-BE49-F238E27FC236}">
                <a16:creationId xmlns:a16="http://schemas.microsoft.com/office/drawing/2014/main" id="{10E5E895-7436-42D7-87BF-BEBF5D189C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261" y="101996"/>
            <a:ext cx="552893" cy="5528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2887A4-400E-4BA3-BA7F-4DFC1A6BC4C4}"/>
              </a:ext>
            </a:extLst>
          </p:cNvPr>
          <p:cNvSpPr txBox="1"/>
          <p:nvPr/>
        </p:nvSpPr>
        <p:spPr>
          <a:xfrm>
            <a:off x="0" y="4434218"/>
            <a:ext cx="6624084" cy="65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180000" algn="l" defTabSz="914400" rtl="0" eaLnBrk="1" fontAlgn="base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7700FF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Товары, попавшие в категорию C: 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Количество наименований товаров, попавших в категорию C: 41.  Товары категории C занимают 55.41% от всех товаров, и приносят около 5.16% прибыли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4A66AC"/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34053-4C31-4266-8051-62F92789D9D6}"/>
              </a:ext>
            </a:extLst>
          </p:cNvPr>
          <p:cNvSpPr txBox="1"/>
          <p:nvPr/>
        </p:nvSpPr>
        <p:spPr>
          <a:xfrm>
            <a:off x="2986606" y="378442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АВС анализ по цене товара </a:t>
            </a: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440C1502-7C53-4CBB-874E-38B061BB2F2A}"/>
              </a:ext>
            </a:extLst>
          </p:cNvPr>
          <p:cNvSpPr/>
          <p:nvPr/>
        </p:nvSpPr>
        <p:spPr>
          <a:xfrm>
            <a:off x="5449143" y="700634"/>
            <a:ext cx="148856" cy="204109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78190-713C-4223-8711-8BC8C544DB90}"/>
              </a:ext>
            </a:extLst>
          </p:cNvPr>
          <p:cNvSpPr txBox="1"/>
          <p:nvPr/>
        </p:nvSpPr>
        <p:spPr>
          <a:xfrm>
            <a:off x="162847" y="223192"/>
            <a:ext cx="2499630" cy="1938992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Был произведен АВС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, XYZ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анализ по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8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показателям, таким как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цена, </a:t>
            </a:r>
            <a:r>
              <a:rPr lang="ru-RU" sz="12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штат покупателя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12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доставка, категория товара и их комбинациям. Ниже представлен анализ по цене. Больше - в приложенных ноутбуках и на нашем веб-сайте </a:t>
            </a:r>
            <a:r>
              <a:rPr lang="en-US" sz="1200" b="0" i="0" u="sng" dirty="0">
                <a:solidFill>
                  <a:srgbClr val="FF4F12"/>
                </a:solidFill>
                <a:effectLst/>
                <a:latin typeface="Century Gothic" panose="020B0502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https://goldenmean.pro</a:t>
            </a:r>
            <a:endParaRPr lang="ru-RU" sz="1200" dirty="0">
              <a:solidFill>
                <a:srgbClr val="FF4F1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Рисунок 14" descr="Восклицательный знак">
            <a:extLst>
              <a:ext uri="{FF2B5EF4-FFF2-40B4-BE49-F238E27FC236}">
                <a16:creationId xmlns:a16="http://schemas.microsoft.com/office/drawing/2014/main" id="{EEBAB980-981C-4953-8546-AF70F18093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68330" y="316109"/>
            <a:ext cx="446384" cy="446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77A36F-38AD-42E7-AC03-794FFF2D4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325" y="1084522"/>
            <a:ext cx="6683187" cy="3207923"/>
          </a:xfrm>
          <a:prstGeom prst="rect">
            <a:avLst/>
          </a:prstGeom>
        </p:spPr>
      </p:pic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6315738" y="44504"/>
            <a:ext cx="2112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Анализ </a:t>
            </a:r>
            <a:r>
              <a:rPr lang="en-US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XYZ</a:t>
            </a:r>
            <a:endParaRPr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0" y="1435728"/>
            <a:ext cx="3168502" cy="277476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indent="0" rtl="0" fontAlgn="base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5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Основные итоги: </a:t>
            </a:r>
            <a:endParaRPr lang="ru-RU" sz="5600" b="0" i="0" u="sng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72000" indent="0" rtl="0" fontAlgn="base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4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4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 Категория Х</a:t>
            </a:r>
            <a:r>
              <a:rPr lang="ru-RU" sz="4200" b="0" i="0" u="none" strike="noStrike" dirty="0">
                <a:solidFill>
                  <a:srgbClr val="4A66AC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ru-RU" sz="4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 группу </a:t>
            </a:r>
            <a:r>
              <a:rPr lang="ru-RU" sz="4200" b="0" i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стабильный</a:t>
            </a:r>
            <a:r>
              <a:rPr lang="ru-RU" sz="4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спрос входит 40 видов товаров и 36 категорий товаров, они составляют менее 10% от коэффициента вариации. Эти товары продаются регулярно. </a:t>
            </a:r>
            <a:endParaRPr lang="en-US" sz="42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72000" indent="0" rtl="0" fontAlgn="base">
              <a:spcBef>
                <a:spcPts val="400"/>
              </a:spcBef>
              <a:spcAft>
                <a:spcPts val="0"/>
              </a:spcAft>
              <a:buNone/>
            </a:pPr>
            <a:br>
              <a:rPr lang="ru-RU" sz="4200" b="0" i="0" u="none" strike="noStrike" dirty="0">
                <a:solidFill>
                  <a:srgbClr val="4A66AC"/>
                </a:solidFill>
                <a:effectLst/>
                <a:latin typeface="Century Gothic" panose="020B0502020202020204" pitchFamily="34" charset="0"/>
              </a:rPr>
            </a:br>
            <a:r>
              <a:rPr lang="ru-RU" sz="4200" b="0" i="0" u="none" strike="noStrike" dirty="0">
                <a:solidFill>
                  <a:srgbClr val="4A66AC"/>
                </a:solidFill>
                <a:effectLst/>
                <a:latin typeface="Century Gothic" panose="020B0502020202020204" pitchFamily="34" charset="0"/>
              </a:rPr>
              <a:t>   </a:t>
            </a:r>
            <a:r>
              <a:rPr lang="ru-RU" sz="4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Категория Y</a:t>
            </a:r>
            <a:r>
              <a:rPr lang="ru-RU" sz="4200" b="0" i="0" u="none" strike="noStrike" dirty="0">
                <a:solidFill>
                  <a:srgbClr val="4A66AC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ru-RU" sz="4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 группу </a:t>
            </a:r>
            <a:r>
              <a:rPr lang="ru-RU" sz="4200" b="0" i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переменный</a:t>
            </a:r>
            <a:r>
              <a:rPr lang="ru-RU" sz="4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спрос входит 737 видов товаров и 21 категория товаров, они составляют от 10% до 25%  коэффициента вариации. Спрос на эти товары колеблется, но есть определенные закономерности (например, сезонность</a:t>
            </a:r>
            <a:r>
              <a:rPr lang="en-US" sz="4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)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887A4-400E-4BA3-BA7F-4DFC1A6BC4C4}"/>
              </a:ext>
            </a:extLst>
          </p:cNvPr>
          <p:cNvSpPr txBox="1"/>
          <p:nvPr/>
        </p:nvSpPr>
        <p:spPr>
          <a:xfrm>
            <a:off x="0" y="4349886"/>
            <a:ext cx="78999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180000" algn="l" defTabSz="914400" rtl="0" eaLnBrk="1" fontAlgn="base" latinLnBrk="0" hangingPunct="1"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7700FF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Категория Z: 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в группу непредсказуемый спрос входит 32174 видов товаров и 17 категорий товаров, они составляют более 25%  коэффициента вариации.  Эти товары покупают очень редко и нерегулярно, спрос на них совершенно непредсказуем.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34053-4C31-4266-8051-62F92789D9D6}"/>
              </a:ext>
            </a:extLst>
          </p:cNvPr>
          <p:cNvSpPr txBox="1"/>
          <p:nvPr/>
        </p:nvSpPr>
        <p:spPr>
          <a:xfrm>
            <a:off x="3525189" y="503861"/>
            <a:ext cx="2711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700FF"/>
                </a:solidFill>
                <a:latin typeface="Century Gothic" panose="020B0502020202020204" pitchFamily="34" charset="0"/>
              </a:rPr>
              <a:t>XYZ</a:t>
            </a:r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 анализ по категориям товаров</a:t>
            </a: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440C1502-7C53-4CBB-874E-38B061BB2F2A}"/>
              </a:ext>
            </a:extLst>
          </p:cNvPr>
          <p:cNvSpPr/>
          <p:nvPr/>
        </p:nvSpPr>
        <p:spPr>
          <a:xfrm>
            <a:off x="5559686" y="925869"/>
            <a:ext cx="139366" cy="158653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трелка: влево 13">
            <a:extLst>
              <a:ext uri="{FF2B5EF4-FFF2-40B4-BE49-F238E27FC236}">
                <a16:creationId xmlns:a16="http://schemas.microsoft.com/office/drawing/2014/main" id="{D1F90870-36ED-41D6-802D-DEAC30BFFD9E}"/>
              </a:ext>
            </a:extLst>
          </p:cNvPr>
          <p:cNvSpPr/>
          <p:nvPr/>
        </p:nvSpPr>
        <p:spPr>
          <a:xfrm>
            <a:off x="3270711" y="646002"/>
            <a:ext cx="159485" cy="141773"/>
          </a:xfrm>
          <a:prstGeom prst="left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Рисунок 15" descr="Исследование">
            <a:extLst>
              <a:ext uri="{FF2B5EF4-FFF2-40B4-BE49-F238E27FC236}">
                <a16:creationId xmlns:a16="http://schemas.microsoft.com/office/drawing/2014/main" id="{CB2CA1AA-23CD-456B-AE99-C30DB9CC02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7507" y="118933"/>
            <a:ext cx="498271" cy="49827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E6DC213-B750-4CC1-90C0-5CCF761CB3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7" y="118933"/>
            <a:ext cx="3202223" cy="11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06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5376970" y="44504"/>
            <a:ext cx="31181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АВС</a:t>
            </a:r>
            <a:r>
              <a:rPr lang="en-US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+XYZ</a:t>
            </a:r>
            <a:r>
              <a:rPr lang="ru-RU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анализ </a:t>
            </a:r>
            <a:endParaRPr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-1" y="101996"/>
            <a:ext cx="3033913" cy="454712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lvl="0" indent="0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5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Основные итоги:</a:t>
            </a: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Группа A (Самые ценные клиенты):</a:t>
            </a:r>
            <a:endParaRPr lang="en-US" sz="4800" i="0" u="none" strike="noStrike" dirty="0">
              <a:solidFill>
                <a:srgbClr val="7700FF"/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AX (Стабильно ценные) </a:t>
            </a:r>
            <a:endParaRPr lang="en-US" sz="480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AY (Ценные с умеренной стабильностью</a:t>
            </a:r>
            <a:endParaRPr lang="en-US" sz="480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AZ (Ценные, но нестабильные)</a:t>
            </a:r>
            <a:endParaRPr lang="en-US" sz="480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sz="4800" i="0" u="none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Группа B (Важные клиенты):</a:t>
            </a:r>
            <a:endParaRPr lang="en-US" sz="4800" dirty="0">
              <a:solidFill>
                <a:srgbClr val="7700FF"/>
              </a:solidFill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BX (Важные и стабильные</a:t>
            </a:r>
            <a:endParaRPr lang="en-US" sz="480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BY (Важные с умеренной стабильностью):</a:t>
            </a:r>
            <a:endParaRPr lang="en-US" sz="480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14300" indent="0" fontAlgn="base">
              <a:lnSpc>
                <a:spcPct val="120000"/>
              </a:lnSpc>
              <a:spcBef>
                <a:spcPts val="100"/>
              </a:spcBef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BZ (Важные, но нестабильные):</a:t>
            </a:r>
            <a:endParaRPr lang="en-US" sz="480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14300" indent="0" fontAlgn="base">
              <a:lnSpc>
                <a:spcPct val="120000"/>
              </a:lnSpc>
              <a:spcBef>
                <a:spcPts val="100"/>
              </a:spcBef>
              <a:buNone/>
            </a:pPr>
            <a:endParaRPr lang="en-US" sz="4800" i="0" u="none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Группа C (Менее важные </a:t>
            </a:r>
            <a:r>
              <a:rPr lang="ru-RU" sz="4800" i="0" u="none" strike="noStrike" dirty="0">
                <a:solidFill>
                  <a:srgbClr val="4A66AC"/>
                </a:solidFill>
                <a:effectLst/>
                <a:latin typeface="Century Gothic" panose="020B0502020202020204" pitchFamily="34" charset="0"/>
              </a:rPr>
              <a:t>клиенты):</a:t>
            </a:r>
            <a:endParaRPr lang="en-US" sz="4800" i="0" u="none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CX (Менее важные, но стабильные):</a:t>
            </a: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CY (Менее важные с умеренной стабильностью):</a:t>
            </a:r>
          </a:p>
          <a:p>
            <a:pPr marL="114300" indent="0" rtl="0" fontAlgn="base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480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CZ (Менее важные и нестабильные):</a:t>
            </a:r>
          </a:p>
          <a:p>
            <a:pPr marL="114300" indent="0" rtl="0" fontAlgn="base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887A4-400E-4BA3-BA7F-4DFC1A6BC4C4}"/>
              </a:ext>
            </a:extLst>
          </p:cNvPr>
          <p:cNvSpPr txBox="1"/>
          <p:nvPr/>
        </p:nvSpPr>
        <p:spPr>
          <a:xfrm>
            <a:off x="231354" y="4261682"/>
            <a:ext cx="7039779" cy="710516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pPr marL="114300" marR="0" lvl="0" indent="180000" algn="l" defTabSz="914400" rtl="0" eaLnBrk="1" fontAlgn="base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Обращает на себя внимание то, что в группе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“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стабильно ценных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”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AX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присутствует только один покупатель. Группы В и С представлены только по одной подкатегорией: нестабильные клиенты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B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_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Z 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и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C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_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Z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.  Группы В_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X, B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_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Y, C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_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X, C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_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Y 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не представлены.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entury Gothic" panose="020B0502020202020204" pitchFamily="34" charset="0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1A15F5-3764-4C63-83EF-59E5B7AA2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264" y="924981"/>
            <a:ext cx="6155228" cy="3200451"/>
          </a:xfrm>
          <a:prstGeom prst="rect">
            <a:avLst/>
          </a:prstGeom>
        </p:spPr>
      </p:pic>
      <p:pic>
        <p:nvPicPr>
          <p:cNvPr id="8" name="Рисунок 7" descr="Таблица">
            <a:extLst>
              <a:ext uri="{FF2B5EF4-FFF2-40B4-BE49-F238E27FC236}">
                <a16:creationId xmlns:a16="http://schemas.microsoft.com/office/drawing/2014/main" id="{9B951EFC-FF5D-46E9-8869-6BB028A75B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5101" y="128813"/>
            <a:ext cx="488391" cy="488391"/>
          </a:xfrm>
          <a:prstGeom prst="rect">
            <a:avLst/>
          </a:prstGeom>
        </p:spPr>
      </p:pic>
      <p:pic>
        <p:nvPicPr>
          <p:cNvPr id="14" name="Рисунок 13" descr="Разряд молнии">
            <a:extLst>
              <a:ext uri="{FF2B5EF4-FFF2-40B4-BE49-F238E27FC236}">
                <a16:creationId xmlns:a16="http://schemas.microsoft.com/office/drawing/2014/main" id="{F13B3B73-2060-4953-97EA-E32C73D964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055" y="4261682"/>
            <a:ext cx="516956" cy="476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634053-4C31-4266-8051-62F92789D9D6}"/>
              </a:ext>
            </a:extLst>
          </p:cNvPr>
          <p:cNvSpPr txBox="1"/>
          <p:nvPr/>
        </p:nvSpPr>
        <p:spPr>
          <a:xfrm>
            <a:off x="3013820" y="508018"/>
            <a:ext cx="2892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АВС+</a:t>
            </a:r>
            <a:r>
              <a:rPr lang="en-US" dirty="0">
                <a:solidFill>
                  <a:srgbClr val="7700FF"/>
                </a:solidFill>
                <a:latin typeface="Century Gothic" panose="020B0502020202020204" pitchFamily="34" charset="0"/>
              </a:rPr>
              <a:t>XZZ</a:t>
            </a:r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 анализ по клиентам</a:t>
            </a: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440C1502-7C53-4CBB-874E-38B061BB2F2A}"/>
              </a:ext>
            </a:extLst>
          </p:cNvPr>
          <p:cNvSpPr/>
          <p:nvPr/>
        </p:nvSpPr>
        <p:spPr>
          <a:xfrm>
            <a:off x="5405833" y="831740"/>
            <a:ext cx="148856" cy="204109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654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714059" y="-26030"/>
            <a:ext cx="77158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АВС</a:t>
            </a:r>
            <a:r>
              <a:rPr lang="en-US" sz="22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+XYZ</a:t>
            </a:r>
            <a:r>
              <a:rPr lang="ru-RU" sz="22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анализ. Выводы и рекомендации. </a:t>
            </a:r>
            <a:endParaRPr sz="22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116958" y="443603"/>
            <a:ext cx="5311568" cy="4571441"/>
          </a:xfrm>
          <a:prstGeom prst="rect">
            <a:avLst/>
          </a:prstGeom>
          <a:ln>
            <a:solidFill>
              <a:srgbClr val="7700FF"/>
            </a:solidFill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48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AX (Стабильно ценные). </a:t>
            </a: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Клиенты, приносящие наибольшую выручку, с наиболее стабильным и предсказуемым спросом.</a:t>
            </a:r>
          </a:p>
          <a:p>
            <a:pPr marL="11430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42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Рекомендации: 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Премиум-обслуживание. Выделенный менеджер, приоритетная поддержка, VIP-статус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Персонализированные предложения и программы лояльности. Эксклюзивные скидки, бонусы, акции, соответствующие их потребностям. Ранний доступ к новым продуктам и услугам</a:t>
            </a:r>
          </a:p>
          <a:p>
            <a:pPr marL="11430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48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AY (Ценные, умеренно стабильные).</a:t>
            </a:r>
            <a:r>
              <a:rPr lang="ru-RU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</a:t>
            </a: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Клиенты, приносящие высокую прибыль, но с менее предсказуемым спросом. </a:t>
            </a:r>
          </a:p>
          <a:p>
            <a:pPr marL="11430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42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Рекомендации: 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Анализ поведения. Выясните причины колебаний спроса (например, сезонность, акции конкурентов). 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Стимулирующие предложения и индивидуальная коммуникация. Скидки, бонусы, акции для поддержания интереса, адаптированные к их потребностям.</a:t>
            </a:r>
          </a:p>
          <a:p>
            <a:pPr marL="11430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48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AZ (Ценные, но нестабильные). </a:t>
            </a: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Клиенты, приносящие высокую прибыль, но с очень непредсказуемым спросом. </a:t>
            </a:r>
          </a:p>
          <a:p>
            <a:pPr marL="11430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r>
              <a:rPr lang="ru-RU" sz="42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Рекомендации: 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Глубокий анализ. Выясните причины нестабильного спроса (чувствительность к цене, смена поставщиков)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Постоянный мониторинг: Отслеживайте их активность и своевременно реагируйте на изменения, адаптируйте предложения к их потребностям</a:t>
            </a:r>
          </a:p>
          <a:p>
            <a: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</a:pPr>
            <a:r>
              <a:rPr lang="ru-RU" sz="4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Оценка риска: оцените риск потери этих клиентов и разработайте план действий.</a:t>
            </a:r>
          </a:p>
          <a:p>
            <a:pPr marL="11430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11430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None/>
            </a:pP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D78190-713C-4223-8711-8BC8C544DB90}"/>
              </a:ext>
            </a:extLst>
          </p:cNvPr>
          <p:cNvSpPr txBox="1"/>
          <p:nvPr/>
        </p:nvSpPr>
        <p:spPr>
          <a:xfrm>
            <a:off x="5578060" y="3180768"/>
            <a:ext cx="3484122" cy="1800493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4F12"/>
                </a:solidFill>
                <a:latin typeface="Century Gothic" panose="020B0502020202020204" pitchFamily="34" charset="0"/>
              </a:rPr>
              <a:t>CZ (Менее важные и нестабильные). </a:t>
            </a: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Клиенты, которые вносят наименьший вклад в выручку и спрос на которых непредсказуем. </a:t>
            </a:r>
          </a:p>
          <a:p>
            <a:r>
              <a:rPr lang="ru-RU" sz="11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Рекомендации: </a:t>
            </a:r>
          </a:p>
          <a:p>
            <a:pPr marL="171450" indent="-171450">
              <a:buFontTx/>
              <a:buChar char="-"/>
            </a:pP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Стандартизация и оптимизация. Снижение затрат на их обслуживание за счет автоматизированных систем</a:t>
            </a:r>
          </a:p>
          <a:p>
            <a:pPr marL="171450" indent="-171450">
              <a:buFontTx/>
              <a:buChar char="-"/>
            </a:pPr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Оценка затрат: Определение рентабельности работы с этими клиентами.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3" name="Рисунок 2" descr="Голова с шестеренками">
            <a:extLst>
              <a:ext uri="{FF2B5EF4-FFF2-40B4-BE49-F238E27FC236}">
                <a16:creationId xmlns:a16="http://schemas.microsoft.com/office/drawing/2014/main" id="{05D6D07E-2067-456E-82F4-CC2511785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8262" y="43170"/>
            <a:ext cx="484385" cy="4843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61BF66-BEB8-4D7C-BBFD-2C12614DC75A}"/>
              </a:ext>
            </a:extLst>
          </p:cNvPr>
          <p:cNvSpPr txBox="1"/>
          <p:nvPr/>
        </p:nvSpPr>
        <p:spPr>
          <a:xfrm>
            <a:off x="5539564" y="638184"/>
            <a:ext cx="3484121" cy="2292935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pPr marL="11430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4F12"/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BZ (Важные, но нестабильные). 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Клиенты, вносящие значительный вклад в выручку, но с очень непредсказуемым спросом. </a:t>
            </a:r>
          </a:p>
          <a:p>
            <a:pPr marL="11430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None/>
              <a:tabLst/>
              <a:defRPr/>
            </a:pPr>
            <a:r>
              <a:rPr kumimoji="0" lang="ru-RU" sz="1100" b="0" i="0" u="sng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Рекомендации: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 </a:t>
            </a:r>
          </a:p>
          <a:p>
            <a:pPr marL="2857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Глубокий анализ. Изучение мотивов покупок, факторов, влияющих на решения. </a:t>
            </a:r>
          </a:p>
          <a:p>
            <a:pPr marL="2857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Программы лояльности. С фокусом на стимуляцию регулярных покупок. </a:t>
            </a:r>
          </a:p>
          <a:p>
            <a:pPr marL="2857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Tx/>
              <a:buChar char="-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cs typeface="Arial"/>
                <a:sym typeface="Arial"/>
              </a:rPr>
              <a:t>Обратная связь. Регулярный опрос о потребностях и удовлетворенности. Упреждающие меры: Предложение помощи и поддержки.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7C35C-E2BC-4F4B-AA15-9299A3B874DC}"/>
              </a:ext>
            </a:extLst>
          </p:cNvPr>
          <p:cNvSpPr txBox="1"/>
          <p:nvPr/>
        </p:nvSpPr>
        <p:spPr>
          <a:xfrm>
            <a:off x="231352" y="135826"/>
            <a:ext cx="1118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Группа А:</a:t>
            </a:r>
          </a:p>
        </p:txBody>
      </p:sp>
      <p:pic>
        <p:nvPicPr>
          <p:cNvPr id="12" name="Рисунок 11" descr="Стрелка: поворот вправо">
            <a:extLst>
              <a:ext uri="{FF2B5EF4-FFF2-40B4-BE49-F238E27FC236}">
                <a16:creationId xmlns:a16="http://schemas.microsoft.com/office/drawing/2014/main" id="{0CA13605-D658-4E92-84D8-BEC0FCC461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4485" y="272550"/>
            <a:ext cx="280085" cy="2800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04AEA0-5DB4-435C-B1FA-52BFB84A8700}"/>
              </a:ext>
            </a:extLst>
          </p:cNvPr>
          <p:cNvSpPr txBox="1"/>
          <p:nvPr/>
        </p:nvSpPr>
        <p:spPr>
          <a:xfrm>
            <a:off x="5578060" y="367472"/>
            <a:ext cx="1350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87996"/>
              </a:buClr>
              <a:buSzPts val="1800"/>
              <a:buFont typeface="Arial"/>
              <a:buNone/>
              <a:tabLst/>
              <a:defRPr/>
            </a:pPr>
            <a:r>
              <a:rPr kumimoji="0" lang="ru-RU" b="0" i="0" u="none" strike="noStrike" kern="0" cap="none" spc="0" normalizeH="0" baseline="0" noProof="0">
                <a:ln>
                  <a:noFill/>
                </a:ln>
                <a:solidFill>
                  <a:srgbClr val="7700FF"/>
                </a:solidFill>
                <a:effectLst/>
                <a:uLnTx/>
                <a:uFillTx/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Группа B:</a:t>
            </a: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7700FF"/>
              </a:solidFill>
              <a:effectLst/>
              <a:uLnTx/>
              <a:uFillTx/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17" name="Рисунок 16" descr="Стрелка: поворот вправо">
            <a:extLst>
              <a:ext uri="{FF2B5EF4-FFF2-40B4-BE49-F238E27FC236}">
                <a16:creationId xmlns:a16="http://schemas.microsoft.com/office/drawing/2014/main" id="{E9B62913-EF23-4A68-97EA-0DE8FAF6B6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0127" y="3009074"/>
            <a:ext cx="279521" cy="279521"/>
          </a:xfrm>
          <a:prstGeom prst="rect">
            <a:avLst/>
          </a:prstGeom>
        </p:spPr>
      </p:pic>
      <p:pic>
        <p:nvPicPr>
          <p:cNvPr id="18" name="Рисунок 17" descr="Стрелка: поворот вправо">
            <a:extLst>
              <a:ext uri="{FF2B5EF4-FFF2-40B4-BE49-F238E27FC236}">
                <a16:creationId xmlns:a16="http://schemas.microsoft.com/office/drawing/2014/main" id="{22B99F9A-C5E4-4115-BFF9-444D50900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9888" y="443603"/>
            <a:ext cx="308506" cy="3085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2D0B66-7AF5-4DD3-9B6B-32FCE779EAB0}"/>
              </a:ext>
            </a:extLst>
          </p:cNvPr>
          <p:cNvSpPr txBox="1"/>
          <p:nvPr/>
        </p:nvSpPr>
        <p:spPr>
          <a:xfrm>
            <a:off x="5535367" y="2887859"/>
            <a:ext cx="108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rgbClr val="7700FF"/>
                </a:solidFill>
                <a:latin typeface="Century Gothic" panose="020B0502020202020204" pitchFamily="34" charset="0"/>
              </a:rPr>
              <a:t>Группа C:</a:t>
            </a:r>
            <a:endParaRPr lang="ru-RU" dirty="0">
              <a:solidFill>
                <a:srgbClr val="7700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80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EDE7C0-29FD-424C-A8D3-973A76C32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258" y="892603"/>
            <a:ext cx="2574333" cy="2272907"/>
          </a:xfrm>
          <a:prstGeom prst="rect">
            <a:avLst/>
          </a:prstGeom>
        </p:spPr>
      </p:pic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6315738" y="44504"/>
            <a:ext cx="2112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Анализ </a:t>
            </a:r>
            <a:r>
              <a:rPr lang="en-US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RFM</a:t>
            </a:r>
            <a:endParaRPr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-37187" y="0"/>
            <a:ext cx="3144309" cy="381499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14300" indent="0" rtl="0" fontAlgn="base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56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Основные итоги: </a:t>
            </a:r>
            <a:endParaRPr lang="ru-RU" sz="5600" b="0" i="0" u="sng" strike="noStrike" dirty="0">
              <a:solidFill>
                <a:srgbClr val="4A66AC"/>
              </a:solidFill>
              <a:effectLst/>
              <a:latin typeface="Century Gothic" panose="020B0502020202020204" pitchFamily="34" charset="0"/>
            </a:endParaRPr>
          </a:p>
          <a:p>
            <a:pPr marL="144000" indent="0" fontAlgn="base">
              <a:lnSpc>
                <a:spcPct val="120000"/>
              </a:lnSpc>
              <a:spcBef>
                <a:spcPts val="200"/>
              </a:spcBef>
              <a:buSzPct val="41000"/>
              <a:buNone/>
            </a:pPr>
            <a:r>
              <a:rPr lang="en-US" sz="56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 1)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Lost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Customers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’</a:t>
            </a:r>
            <a:endParaRPr lang="ru-RU" sz="48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44000" indent="0" fontAlgn="base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Клиенты, которых, 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вероятно, потеряли.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Кол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48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24179’</a:t>
            </a: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2)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Big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Spenders</a:t>
            </a:r>
            <a:r>
              <a:rPr lang="en-US" sz="56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’</a:t>
            </a:r>
            <a:endParaRPr lang="en-US" sz="4800" dirty="0">
              <a:solidFill>
                <a:srgbClr val="7700FF"/>
              </a:solidFill>
              <a:latin typeface="Century Gothic" panose="020B0502020202020204" pitchFamily="34" charset="0"/>
            </a:endParaRP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Клиенты, которые 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тратят много денег</a:t>
            </a:r>
            <a:r>
              <a:rPr lang="en-US" sz="4800" dirty="0">
                <a:solidFill>
                  <a:srgbClr val="7700FF"/>
                </a:solidFill>
                <a:latin typeface="Century Gothic" panose="020B0502020202020204" pitchFamily="34" charset="0"/>
              </a:rPr>
              <a:t>.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Кол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48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23460’</a:t>
            </a: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3)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New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Low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Spenders</a:t>
            </a:r>
            <a:r>
              <a:rPr lang="en-US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’</a:t>
            </a:r>
            <a:endParaRPr lang="ru-RU" sz="48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Недавние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покупатели, делающие 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небольшие покупки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Кол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48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12407’</a:t>
            </a: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4)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Churning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Spenders</a:t>
            </a:r>
            <a:r>
              <a:rPr lang="en-US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’</a:t>
            </a:r>
            <a:endParaRPr lang="en-US" sz="4800" dirty="0">
              <a:solidFill>
                <a:srgbClr val="7700FF"/>
              </a:solidFill>
              <a:latin typeface="Century Gothic" panose="020B0502020202020204" pitchFamily="34" charset="0"/>
            </a:endParaRP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Клиенты, которые 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тратили много денег, но перестали совершать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покупки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sz="4800" dirty="0">
                <a:solidFill>
                  <a:srgbClr val="7700FF"/>
                </a:solidFill>
                <a:latin typeface="Century Gothic" panose="020B0502020202020204" pitchFamily="34" charset="0"/>
              </a:rPr>
              <a:t>.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Кол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48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12167’</a:t>
            </a: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5)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5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sz="56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Promising</a:t>
            </a: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’</a:t>
            </a:r>
          </a:p>
          <a:p>
            <a:pPr marL="144000" indent="0" rtl="0" fontAlgn="base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Совершали покупки недавно,</a:t>
            </a:r>
            <a:r>
              <a:rPr lang="ru-RU" sz="48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но редко</a:t>
            </a:r>
            <a:r>
              <a:rPr lang="en-US" sz="4800" dirty="0">
                <a:solidFill>
                  <a:srgbClr val="7700FF"/>
                </a:solidFill>
                <a:latin typeface="Century Gothic" panose="020B0502020202020204" pitchFamily="34" charset="0"/>
              </a:rPr>
              <a:t>. 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Кол</a:t>
            </a:r>
            <a:r>
              <a:rPr lang="en-US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48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48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12047'</a:t>
            </a:r>
          </a:p>
          <a:p>
            <a:pPr marL="72000" indent="0" rtl="0" fontAlgn="base">
              <a:spcBef>
                <a:spcPts val="40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887A4-400E-4BA3-BA7F-4DFC1A6BC4C4}"/>
              </a:ext>
            </a:extLst>
          </p:cNvPr>
          <p:cNvSpPr txBox="1"/>
          <p:nvPr/>
        </p:nvSpPr>
        <p:spPr>
          <a:xfrm>
            <a:off x="-24193" y="3859502"/>
            <a:ext cx="3929219" cy="1364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fontAlgn="base">
              <a:spcBef>
                <a:spcPts val="200"/>
              </a:spcBef>
            </a:pP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6) </a:t>
            </a:r>
            <a:r>
              <a:rPr lang="ru-RU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Churning</a:t>
            </a:r>
            <a:r>
              <a:rPr lang="ru-RU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Loyalists</a:t>
            </a: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’</a:t>
            </a:r>
            <a:endParaRPr lang="en-US" sz="1200" b="0" i="0" u="none" strike="noStrike" dirty="0">
              <a:solidFill>
                <a:srgbClr val="7700FF"/>
              </a:solidFill>
              <a:effectLst/>
              <a:latin typeface="Century Gothic" panose="020B0502020202020204" pitchFamily="34" charset="0"/>
            </a:endParaRPr>
          </a:p>
          <a:p>
            <a:pPr marL="144000" fontAlgn="base">
              <a:spcBef>
                <a:spcPts val="200"/>
              </a:spcBef>
            </a:pPr>
            <a:r>
              <a:rPr lang="ru-RU" sz="1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Лояльные клиенты, </a:t>
            </a: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которые</a:t>
            </a:r>
            <a:r>
              <a:rPr lang="ru-RU" sz="1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 перестали совершать </a:t>
            </a: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новые покупки. Кол</a:t>
            </a:r>
            <a:r>
              <a:rPr lang="en-US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12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1</a:t>
            </a:r>
            <a:endParaRPr lang="ru-RU" sz="12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144000" rtl="0" fontAlgn="base">
              <a:spcBef>
                <a:spcPts val="20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7) </a:t>
            </a:r>
            <a:r>
              <a:rPr lang="ru-RU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'</a:t>
            </a:r>
            <a:r>
              <a:rPr lang="ru-RU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Other</a:t>
            </a:r>
            <a:r>
              <a:rPr lang="ru-RU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Customers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’</a:t>
            </a:r>
          </a:p>
          <a:p>
            <a:pPr marL="144000" rtl="0" fontAlgn="base">
              <a:spcBef>
                <a:spcPts val="200"/>
              </a:spcBef>
              <a:spcAft>
                <a:spcPts val="0"/>
              </a:spcAft>
            </a:pP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Клиенты, </a:t>
            </a:r>
            <a:r>
              <a:rPr lang="ru-RU" sz="1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не вошедшие ни в один </a:t>
            </a: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из сегментов выше</a:t>
            </a:r>
            <a:r>
              <a:rPr lang="ru-RU" sz="1200" b="0" i="0" u="none" strike="noStrike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Кол</a:t>
            </a:r>
            <a:r>
              <a:rPr lang="en-US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-</a:t>
            </a:r>
            <a:r>
              <a:rPr lang="ru-RU" sz="12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 клиентов: </a:t>
            </a:r>
            <a:r>
              <a:rPr lang="ru-RU" sz="1200" b="0" i="0" u="sng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11834'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634053-4C31-4266-8051-62F92789D9D6}"/>
              </a:ext>
            </a:extLst>
          </p:cNvPr>
          <p:cNvSpPr txBox="1"/>
          <p:nvPr/>
        </p:nvSpPr>
        <p:spPr>
          <a:xfrm>
            <a:off x="3168502" y="235035"/>
            <a:ext cx="2711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700FF"/>
                </a:solidFill>
                <a:latin typeface="Century Gothic" panose="020B0502020202020204" pitchFamily="34" charset="0"/>
              </a:rPr>
              <a:t>RFM</a:t>
            </a:r>
            <a:r>
              <a:rPr lang="ru-RU" dirty="0">
                <a:solidFill>
                  <a:srgbClr val="7700FF"/>
                </a:solidFill>
                <a:latin typeface="Century Gothic" panose="020B0502020202020204" pitchFamily="34" charset="0"/>
              </a:rPr>
              <a:t> анализ по клиентам с учетом доставки</a:t>
            </a:r>
          </a:p>
        </p:txBody>
      </p:sp>
      <p:pic>
        <p:nvPicPr>
          <p:cNvPr id="16" name="Рисунок 15" descr="Исследование">
            <a:extLst>
              <a:ext uri="{FF2B5EF4-FFF2-40B4-BE49-F238E27FC236}">
                <a16:creationId xmlns:a16="http://schemas.microsoft.com/office/drawing/2014/main" id="{CB2CA1AA-23CD-456B-AE99-C30DB9CC02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7507" y="118933"/>
            <a:ext cx="498271" cy="49827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67D632-8B8D-49C9-BA66-2AC4D8C67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1098" y="3122662"/>
            <a:ext cx="3847623" cy="191172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3D42948-513E-49A5-8DE8-C224EE195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591" y="751552"/>
            <a:ext cx="3413959" cy="237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440C1502-7C53-4CBB-874E-38B061BB2F2A}"/>
              </a:ext>
            </a:extLst>
          </p:cNvPr>
          <p:cNvSpPr/>
          <p:nvPr/>
        </p:nvSpPr>
        <p:spPr>
          <a:xfrm>
            <a:off x="4768183" y="678928"/>
            <a:ext cx="139366" cy="158653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B50FD4-3114-41B4-9255-4B2ECCD80522}"/>
              </a:ext>
            </a:extLst>
          </p:cNvPr>
          <p:cNvSpPr txBox="1"/>
          <p:nvPr/>
        </p:nvSpPr>
        <p:spPr>
          <a:xfrm>
            <a:off x="2888007" y="3411521"/>
            <a:ext cx="2019541" cy="600164"/>
          </a:xfrm>
          <a:prstGeom prst="rect">
            <a:avLst/>
          </a:prstGeom>
          <a:solidFill>
            <a:srgbClr val="F6F8FB"/>
          </a:solidFill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Наш единственный клиент из категории А_Х, кажется, ушел от нас…</a:t>
            </a:r>
          </a:p>
        </p:txBody>
      </p:sp>
      <p:pic>
        <p:nvPicPr>
          <p:cNvPr id="5" name="Рисунок 4" descr="Разряд молнии">
            <a:extLst>
              <a:ext uri="{FF2B5EF4-FFF2-40B4-BE49-F238E27FC236}">
                <a16:creationId xmlns:a16="http://schemas.microsoft.com/office/drawing/2014/main" id="{3A17CE95-3181-4B16-A606-C37CE0E673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9682" y="3564331"/>
            <a:ext cx="496913" cy="436595"/>
          </a:xfrm>
          <a:prstGeom prst="rect">
            <a:avLst/>
          </a:prstGeom>
        </p:spPr>
      </p:pic>
      <p:pic>
        <p:nvPicPr>
          <p:cNvPr id="8" name="Рисунок 7" descr="Стрелка: поворот влево">
            <a:extLst>
              <a:ext uri="{FF2B5EF4-FFF2-40B4-BE49-F238E27FC236}">
                <a16:creationId xmlns:a16="http://schemas.microsoft.com/office/drawing/2014/main" id="{4C7549A1-8208-43DF-B3EA-0AC63A9E4A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47279" y="3795752"/>
            <a:ext cx="340727" cy="34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64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691915" y="-18276"/>
            <a:ext cx="49466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Когортный</a:t>
            </a:r>
            <a:r>
              <a:rPr lang="ru-RU" sz="24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 анализ</a:t>
            </a:r>
            <a:endParaRPr sz="24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01DDABFB-239D-4B6E-874D-602411D572EF}"/>
              </a:ext>
            </a:extLst>
          </p:cNvPr>
          <p:cNvSpPr/>
          <p:nvPr/>
        </p:nvSpPr>
        <p:spPr>
          <a:xfrm>
            <a:off x="5497618" y="1562817"/>
            <a:ext cx="178246" cy="202019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 descr="Таблица">
            <a:extLst>
              <a:ext uri="{FF2B5EF4-FFF2-40B4-BE49-F238E27FC236}">
                <a16:creationId xmlns:a16="http://schemas.microsoft.com/office/drawing/2014/main" id="{FF7C90B1-FF30-4BD0-B6CC-DF3881712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8562" y="103244"/>
            <a:ext cx="399201" cy="3992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CFDCB5-1445-42F7-8464-F8AFB5342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697" y="502446"/>
            <a:ext cx="4369877" cy="217284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3D988B4-DC54-481E-AC2E-EC52696956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7619" y="2706140"/>
            <a:ext cx="3434132" cy="15364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04E869-D678-4B1A-94ED-DED0EE848560}"/>
              </a:ext>
            </a:extLst>
          </p:cNvPr>
          <p:cNvSpPr txBox="1"/>
          <p:nvPr/>
        </p:nvSpPr>
        <p:spPr>
          <a:xfrm>
            <a:off x="106237" y="380211"/>
            <a:ext cx="4231940" cy="24929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180000" algn="l"/>
            <a:r>
              <a:rPr lang="ru-RU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Наиболее частый возврат клиентов демонстрируют практически одни и те же штаты, в их числе - крупнейшие и густонаселенные регионы.</a:t>
            </a:r>
          </a:p>
          <a:p>
            <a:pPr indent="180000" algn="l"/>
            <a:r>
              <a:rPr lang="ru-RU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Средний уровень </a:t>
            </a:r>
            <a:r>
              <a:rPr lang="ru-RU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возвращаемости</a:t>
            </a:r>
            <a:r>
              <a:rPr lang="ru-RU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характерен для части центральных и южных регионов, в то время как минимальные или нулевые частоты возвратов в основном наблюдаются в отдалённых или малонаселённых штатах.</a:t>
            </a:r>
          </a:p>
          <a:p>
            <a:pPr indent="180000" algn="l"/>
            <a:r>
              <a:rPr lang="ru-RU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Одной из гипотез относительно низкой стабильности </a:t>
            </a:r>
            <a:r>
              <a:rPr lang="ru-RU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возвращаемости</a:t>
            </a:r>
            <a:r>
              <a:rPr lang="ru-RU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 клиентов в штатах может являться высокая средняя стоимость доставки, которая, в свою очередь, обусловлена удаленностью от логистических пунктов с товарами.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206AB-38F2-4D67-8E9A-439D2E2A6B00}"/>
              </a:ext>
            </a:extLst>
          </p:cNvPr>
          <p:cNvSpPr txBox="1"/>
          <p:nvPr/>
        </p:nvSpPr>
        <p:spPr>
          <a:xfrm>
            <a:off x="86910" y="3008129"/>
            <a:ext cx="3056774" cy="2062103"/>
          </a:xfrm>
          <a:prstGeom prst="rect">
            <a:avLst/>
          </a:prstGeom>
          <a:solidFill>
            <a:srgbClr val="F6F8FB"/>
          </a:solidFill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u="sng" dirty="0">
                <a:solidFill>
                  <a:srgbClr val="7700FF"/>
                </a:solidFill>
                <a:latin typeface="Century Gothic" panose="020B0502020202020204" pitchFamily="34" charset="0"/>
              </a:rPr>
              <a:t>Рекомендация</a:t>
            </a:r>
          </a:p>
          <a:p>
            <a:pPr indent="180000"/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Для повышения уровня удержания покупателей, рекомендуется расширить логистическую инфраструктуру, в том числе количество складов и пунктов выдачи товаров, ближе к отдаленным регионам.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2D4BF4-60D9-42AE-AE4F-3E6A60E9E808}"/>
              </a:ext>
            </a:extLst>
          </p:cNvPr>
          <p:cNvSpPr txBox="1"/>
          <p:nvPr/>
        </p:nvSpPr>
        <p:spPr>
          <a:xfrm>
            <a:off x="5675864" y="4441852"/>
            <a:ext cx="3361899" cy="646331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latin typeface="Century Gothic" panose="020B0502020202020204" pitchFamily="34" charset="0"/>
              </a:rPr>
              <a:t>Больше примеров </a:t>
            </a:r>
            <a:r>
              <a:rPr lang="ru-RU" sz="1200" dirty="0" err="1">
                <a:latin typeface="Century Gothic" panose="020B0502020202020204" pitchFamily="34" charset="0"/>
              </a:rPr>
              <a:t>когортного</a:t>
            </a:r>
            <a:r>
              <a:rPr lang="ru-RU" sz="1200" dirty="0">
                <a:latin typeface="Century Gothic" panose="020B0502020202020204" pitchFamily="34" charset="0"/>
              </a:rPr>
              <a:t> анализа размещено на нашем сайте: </a:t>
            </a:r>
            <a:r>
              <a:rPr lang="en-US" sz="1200" b="0" i="0" u="sng" dirty="0">
                <a:solidFill>
                  <a:srgbClr val="FF4F12"/>
                </a:solidFill>
                <a:effectLst/>
                <a:latin typeface="Century Gothic" panose="020B0502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https://goldenmean.pro</a:t>
            </a:r>
            <a:endParaRPr lang="ru-RU" sz="1200" dirty="0">
              <a:solidFill>
                <a:srgbClr val="FF4F1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8" name="Рисунок 17" descr="Восклицательный знак">
            <a:extLst>
              <a:ext uri="{FF2B5EF4-FFF2-40B4-BE49-F238E27FC236}">
                <a16:creationId xmlns:a16="http://schemas.microsoft.com/office/drawing/2014/main" id="{BA98910B-F787-4301-8866-CF28883143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3710" y="4507271"/>
            <a:ext cx="457200" cy="457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9C1878-F25C-4266-BEFC-F59B0CDCFEB4}"/>
              </a:ext>
            </a:extLst>
          </p:cNvPr>
          <p:cNvSpPr txBox="1"/>
          <p:nvPr/>
        </p:nvSpPr>
        <p:spPr>
          <a:xfrm>
            <a:off x="106237" y="41657"/>
            <a:ext cx="4699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u="sng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Выводы по штатам и стоимости доставки:</a:t>
            </a:r>
          </a:p>
        </p:txBody>
      </p:sp>
      <p:pic>
        <p:nvPicPr>
          <p:cNvPr id="21" name="Рисунок 20" descr="Стрелка: поворот вправо">
            <a:extLst>
              <a:ext uri="{FF2B5EF4-FFF2-40B4-BE49-F238E27FC236}">
                <a16:creationId xmlns:a16="http://schemas.microsoft.com/office/drawing/2014/main" id="{EBD3348E-FAA1-4511-9168-B494705676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91915" y="306537"/>
            <a:ext cx="270708" cy="2707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AFA064-70C6-4145-B4FC-807F399055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2807" y="2806804"/>
            <a:ext cx="2353933" cy="195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08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736750-C16D-4EA5-A268-0DE63D3D5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704" y="550070"/>
            <a:ext cx="2977755" cy="2459674"/>
          </a:xfrm>
          <a:prstGeom prst="rect">
            <a:avLst/>
          </a:prstGeom>
        </p:spPr>
      </p:pic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4894730" y="44504"/>
            <a:ext cx="36003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r"/>
            <a:r>
              <a:rPr lang="en-US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NLP </a:t>
            </a:r>
            <a:r>
              <a:rPr lang="ru-RU" i="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Анализ отзывов</a:t>
            </a:r>
            <a:br>
              <a:rPr lang="ru-RU" i="0" dirty="0">
                <a:solidFill>
                  <a:srgbClr val="FF0000"/>
                </a:solidFill>
                <a:effectLst/>
                <a:latin typeface="Inter"/>
              </a:rPr>
            </a:br>
            <a:r>
              <a:rPr lang="ru-RU" dirty="0">
                <a:solidFill>
                  <a:srgbClr val="FF0000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 </a:t>
            </a:r>
            <a:endParaRPr dirty="0">
              <a:solidFill>
                <a:srgbClr val="FF0000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105783" y="107580"/>
            <a:ext cx="3314405" cy="1310547"/>
          </a:xfrm>
          <a:prstGeom prst="rect">
            <a:avLst/>
          </a:prstGeom>
          <a:ln>
            <a:solidFill>
              <a:srgbClr val="7700FF"/>
            </a:solidFill>
          </a:ln>
        </p:spPr>
        <p:txBody>
          <a:bodyPr spcFirstLastPara="1" wrap="square" lIns="18000" tIns="18000" rIns="18000" bIns="18000" anchor="t" anchorCtr="0">
            <a:spAutoFit/>
          </a:bodyPr>
          <a:lstStyle/>
          <a:p>
            <a:pPr marL="11430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Анализ отзывов клиентов интернет магазина был проведен с использованием LLM модели для извлечения ключевых признаков, которые могут помочь в предсказании оттока клиентов.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pic>
        <p:nvPicPr>
          <p:cNvPr id="4" name="Рисунок 3" descr="Отзыв клиента">
            <a:extLst>
              <a:ext uri="{FF2B5EF4-FFF2-40B4-BE49-F238E27FC236}">
                <a16:creationId xmlns:a16="http://schemas.microsoft.com/office/drawing/2014/main" id="{DD8561FF-CE43-41A6-A8AB-765DBCAD8E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5102" y="29640"/>
            <a:ext cx="564776" cy="56477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AE68367-FADE-4C99-9351-758074B21C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41" y="576102"/>
            <a:ext cx="2594376" cy="234371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3321FC8-12E3-4C71-9553-693E2615C6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3362" y="3032429"/>
            <a:ext cx="5129777" cy="19389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424CE9-3322-4E68-AEC4-38A194A32524}"/>
              </a:ext>
            </a:extLst>
          </p:cNvPr>
          <p:cNvSpPr txBox="1"/>
          <p:nvPr/>
        </p:nvSpPr>
        <p:spPr>
          <a:xfrm>
            <a:off x="84122" y="1418143"/>
            <a:ext cx="39177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u="sng" dirty="0">
                <a:latin typeface="Century Gothic" panose="020B0502020202020204" pitchFamily="34" charset="0"/>
              </a:rPr>
              <a:t>Преимущества LLM:</a:t>
            </a:r>
            <a:endParaRPr lang="ru-RU" sz="1200" dirty="0">
              <a:latin typeface="Century Gothic" panose="020B0502020202020204" pitchFamily="34" charset="0"/>
            </a:endParaRPr>
          </a:p>
          <a:p>
            <a:r>
              <a:rPr lang="ru-RU" sz="1200" dirty="0">
                <a:latin typeface="Century Gothic" panose="020B0502020202020204" pitchFamily="34" charset="0"/>
              </a:rPr>
              <a:t>- Единое решение для всех типов вопросов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Контекстное понимание имплицитных утверждений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Гибкость к вариациям формулировок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Масштабируемость без переобучения модели</a:t>
            </a:r>
          </a:p>
          <a:p>
            <a:r>
              <a:rPr lang="ru-RU" sz="1200" u="sng" dirty="0">
                <a:latin typeface="Century Gothic" panose="020B0502020202020204" pitchFamily="34" charset="0"/>
              </a:rPr>
              <a:t>Почему именно llama-3.2-11b-vision-instruct?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Низкая стоимость обработки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Точность: ~93% на </a:t>
            </a:r>
            <a:r>
              <a:rPr lang="ru-RU" sz="1200" dirty="0" err="1">
                <a:latin typeface="Century Gothic" panose="020B0502020202020204" pitchFamily="34" charset="0"/>
              </a:rPr>
              <a:t>валид</a:t>
            </a:r>
            <a:r>
              <a:rPr lang="ru-RU" sz="1200" dirty="0">
                <a:latin typeface="Century Gothic" panose="020B0502020202020204" pitchFamily="34" charset="0"/>
              </a:rPr>
              <a:t>. выборке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Языковая поддержка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4930CE-473B-402A-AD42-9CAF937A2419}"/>
              </a:ext>
            </a:extLst>
          </p:cNvPr>
          <p:cNvSpPr txBox="1"/>
          <p:nvPr/>
        </p:nvSpPr>
        <p:spPr>
          <a:xfrm>
            <a:off x="94953" y="3541801"/>
            <a:ext cx="3896062" cy="1384995"/>
          </a:xfrm>
          <a:prstGeom prst="rect">
            <a:avLst/>
          </a:prstGeom>
          <a:solidFill>
            <a:srgbClr val="F6F8FB"/>
          </a:solidFill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- Очевидным образом низкие оценки в отзывах не предрасполагают к повторным покупкам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Люди пишут длинные сообщения на эмоциях, положительных или отрицательных - не важно.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- В большей степени к повторным покупкам склонны люди удовлетворённые качеством и собственным настроением.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342744-671F-4641-BA09-B2C3BBC67BC9}"/>
              </a:ext>
            </a:extLst>
          </p:cNvPr>
          <p:cNvSpPr txBox="1"/>
          <p:nvPr/>
        </p:nvSpPr>
        <p:spPr>
          <a:xfrm>
            <a:off x="2913118" y="3158884"/>
            <a:ext cx="884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>
                <a:solidFill>
                  <a:srgbClr val="7700FF"/>
                </a:solidFill>
                <a:latin typeface="Century Gothic" panose="020B0502020202020204" pitchFamily="34" charset="0"/>
              </a:rPr>
              <a:t>Выводы</a:t>
            </a:r>
          </a:p>
        </p:txBody>
      </p:sp>
      <p:pic>
        <p:nvPicPr>
          <p:cNvPr id="22" name="Рисунок 21" descr="Стрелка: поворот влево">
            <a:extLst>
              <a:ext uri="{FF2B5EF4-FFF2-40B4-BE49-F238E27FC236}">
                <a16:creationId xmlns:a16="http://schemas.microsoft.com/office/drawing/2014/main" id="{FCD9A0CA-108F-472D-BC96-8F2EF43369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37205" y="330458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55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D0B11-E496-4E50-83CA-582A35397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396" y="1039257"/>
            <a:ext cx="6037708" cy="1547163"/>
          </a:xfrm>
          <a:prstGeom prst="rect">
            <a:avLst/>
          </a:prstGeom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689372" y="22266"/>
            <a:ext cx="49275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ML-</a:t>
            </a:r>
            <a:r>
              <a:rPr lang="ru-RU" sz="20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модели для прогнозирования оттока покупателей</a:t>
            </a:r>
            <a:endParaRPr sz="20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D3DF7-C8F3-4A9F-B25B-2FE23D55252A}"/>
              </a:ext>
            </a:extLst>
          </p:cNvPr>
          <p:cNvSpPr txBox="1"/>
          <p:nvPr/>
        </p:nvSpPr>
        <p:spPr>
          <a:xfrm>
            <a:off x="258537" y="147452"/>
            <a:ext cx="3250207" cy="954107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b="0" i="0" u="sng" dirty="0">
                <a:solidFill>
                  <a:srgbClr val="7700FF"/>
                </a:solidFill>
                <a:effectLst/>
                <a:latin typeface="Century Gothic" panose="020B0502020202020204" pitchFamily="34" charset="0"/>
              </a:rPr>
              <a:t>Цель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Построение моделей для выявления клиентов, склонных к оттоку, с целью принятия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проактивных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мер удержания.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01DDABFB-239D-4B6E-874D-602411D572EF}"/>
              </a:ext>
            </a:extLst>
          </p:cNvPr>
          <p:cNvSpPr/>
          <p:nvPr/>
        </p:nvSpPr>
        <p:spPr>
          <a:xfrm>
            <a:off x="5497618" y="1562817"/>
            <a:ext cx="178246" cy="202019"/>
          </a:xfrm>
          <a:prstGeom prst="downArrow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CF3449B-D8E2-4583-B14C-9FB28832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847" y="2571750"/>
            <a:ext cx="4975892" cy="24543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D670A84-34E8-46E7-94DD-A94436A6C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753" y="1192714"/>
            <a:ext cx="2620340" cy="172296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B0ED726-5445-43EC-A3A9-CEC061DE7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50" y="2864532"/>
            <a:ext cx="4125729" cy="2037077"/>
          </a:xfrm>
          <a:prstGeom prst="rect">
            <a:avLst/>
          </a:prstGeom>
        </p:spPr>
      </p:pic>
      <p:pic>
        <p:nvPicPr>
          <p:cNvPr id="3" name="Рисунок 2" descr="Целевая аудитория">
            <a:extLst>
              <a:ext uri="{FF2B5EF4-FFF2-40B4-BE49-F238E27FC236}">
                <a16:creationId xmlns:a16="http://schemas.microsoft.com/office/drawing/2014/main" id="{84AEF2B2-21D7-4B89-9A1A-6395226714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9877" y="161322"/>
            <a:ext cx="574862" cy="57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84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107724" y="29471"/>
            <a:ext cx="853905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ML-</a:t>
            </a:r>
            <a:r>
              <a:rPr lang="ru-RU" sz="2000" dirty="0">
                <a:solidFill>
                  <a:srgbClr val="FF4F12"/>
                </a:solidFill>
                <a:latin typeface="Century Gothic" panose="020B0502020202020204" pitchFamily="34" charset="0"/>
                <a:ea typeface="Roboto"/>
                <a:cs typeface="Roboto"/>
                <a:sym typeface="Roboto"/>
              </a:rPr>
              <a:t>модели для прогнозирования оттока покупателей. Выводы.</a:t>
            </a:r>
            <a:endParaRPr sz="2000" dirty="0">
              <a:solidFill>
                <a:srgbClr val="FF4F12"/>
              </a:solidFill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E7F9F-3905-44BC-B089-FA3EB8A927CB}"/>
              </a:ext>
            </a:extLst>
          </p:cNvPr>
          <p:cNvSpPr txBox="1"/>
          <p:nvPr/>
        </p:nvSpPr>
        <p:spPr>
          <a:xfrm>
            <a:off x="2148289" y="1584251"/>
            <a:ext cx="5071218" cy="2425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D4203-FB7A-4F9A-B155-DCE7EF38CFCF}"/>
              </a:ext>
            </a:extLst>
          </p:cNvPr>
          <p:cNvSpPr txBox="1"/>
          <p:nvPr/>
        </p:nvSpPr>
        <p:spPr>
          <a:xfrm>
            <a:off x="107724" y="785407"/>
            <a:ext cx="5191390" cy="3970318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   - 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XGBoost</a:t>
            </a:r>
            <a:r>
              <a:rPr lang="ru-RU" sz="1200" dirty="0">
                <a:latin typeface="Century Gothic" panose="020B0502020202020204" pitchFamily="34" charset="0"/>
              </a:rPr>
              <a:t> с оптимизацией порога достиг наилучшего значения PR-AUC, что критично для задач с сильным дисбалансом (редкие случаи возврата).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Это делает </a:t>
            </a:r>
            <a:r>
              <a:rPr lang="ru-RU" sz="1200" dirty="0" err="1">
                <a:latin typeface="Century Gothic" panose="020B0502020202020204" pitchFamily="34" charset="0"/>
              </a:rPr>
              <a:t>XGBoost</a:t>
            </a:r>
            <a:r>
              <a:rPr lang="ru-RU" sz="1200" dirty="0">
                <a:latin typeface="Century Gothic" panose="020B0502020202020204" pitchFamily="34" charset="0"/>
              </a:rPr>
              <a:t> отличным кандидатом для предсказания оттока и запуска персонализированных </a:t>
            </a:r>
            <a:r>
              <a:rPr lang="ru-RU" sz="1200" dirty="0" err="1">
                <a:latin typeface="Century Gothic" panose="020B0502020202020204" pitchFamily="34" charset="0"/>
              </a:rPr>
              <a:t>офферов</a:t>
            </a:r>
            <a:r>
              <a:rPr lang="ru-RU" sz="1200" dirty="0">
                <a:latin typeface="Century Gothic" panose="020B0502020202020204" pitchFamily="34" charset="0"/>
              </a:rPr>
              <a:t>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   </a:t>
            </a:r>
            <a:r>
              <a:rPr lang="ru-RU" sz="1200" u="sng" dirty="0">
                <a:latin typeface="Century Gothic" panose="020B0502020202020204" pitchFamily="34" charset="0"/>
              </a:rPr>
              <a:t>-  Балансировка и оптимизация порога</a:t>
            </a:r>
            <a:r>
              <a:rPr lang="ru-RU" sz="1200" dirty="0">
                <a:latin typeface="Century Gothic" panose="020B0502020202020204" pitchFamily="34" charset="0"/>
              </a:rPr>
              <a:t>: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Методы балансировки и оптимизация по F1 помогают лучше выявлять клиентов, склонных вернуться.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Особенно важно это при низкой доле возвратов — улучшает </a:t>
            </a:r>
            <a:r>
              <a:rPr lang="ru-RU" sz="1200" dirty="0" err="1">
                <a:latin typeface="Century Gothic" panose="020B0502020202020204" pitchFamily="34" charset="0"/>
              </a:rPr>
              <a:t>recall</a:t>
            </a:r>
            <a:r>
              <a:rPr lang="ru-RU" sz="1200" dirty="0">
                <a:latin typeface="Century Gothic" panose="020B0502020202020204" pitchFamily="34" charset="0"/>
              </a:rPr>
              <a:t> без серьёзной потери по </a:t>
            </a:r>
            <a:r>
              <a:rPr lang="ru-RU" sz="1200" dirty="0" err="1">
                <a:latin typeface="Century Gothic" panose="020B0502020202020204" pitchFamily="34" charset="0"/>
              </a:rPr>
              <a:t>precision</a:t>
            </a:r>
            <a:r>
              <a:rPr lang="ru-RU" sz="1200" dirty="0">
                <a:latin typeface="Century Gothic" panose="020B0502020202020204" pitchFamily="34" charset="0"/>
              </a:rPr>
              <a:t>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   </a:t>
            </a:r>
            <a:r>
              <a:rPr lang="ru-RU" sz="1200" u="sng" dirty="0">
                <a:latin typeface="Century Gothic" panose="020B0502020202020204" pitchFamily="34" charset="0"/>
              </a:rPr>
              <a:t>-  Интерпретируемые модели</a:t>
            </a:r>
            <a:r>
              <a:rPr lang="ru-RU" sz="1200" dirty="0">
                <a:latin typeface="Century Gothic" panose="020B0502020202020204" pitchFamily="34" charset="0"/>
              </a:rPr>
              <a:t>:</a:t>
            </a:r>
          </a:p>
          <a:p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Logistic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Regression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и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Decision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Tree</a:t>
            </a:r>
            <a:r>
              <a:rPr lang="ru-RU" sz="1200" dirty="0">
                <a:latin typeface="Century Gothic" panose="020B0502020202020204" pitchFamily="34" charset="0"/>
              </a:rPr>
              <a:t> дают представление о ключевых факторах оттока, позволяя использовать их для бизнес-инсайтов: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Например, можно выявить, какие именно признаки (активность, история заказов, обращения в поддержку) влияют на отток.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   </a:t>
            </a:r>
            <a:r>
              <a:rPr lang="ru-RU" sz="1200" u="sng" dirty="0">
                <a:latin typeface="Century Gothic" panose="020B0502020202020204" pitchFamily="34" charset="0"/>
              </a:rPr>
              <a:t>-  Ансамбли и </a:t>
            </a:r>
            <a:r>
              <a:rPr lang="ru-RU" sz="1200" u="sng" dirty="0" err="1">
                <a:latin typeface="Century Gothic" panose="020B0502020202020204" pitchFamily="34" charset="0"/>
              </a:rPr>
              <a:t>стекинг</a:t>
            </a:r>
            <a:r>
              <a:rPr lang="ru-RU" sz="1200" dirty="0">
                <a:latin typeface="Century Gothic" panose="020B0502020202020204" pitchFamily="34" charset="0"/>
              </a:rPr>
              <a:t>:</a:t>
            </a:r>
          </a:p>
          <a:p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Random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Forest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и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StackingClassifier</a:t>
            </a:r>
            <a:r>
              <a:rPr lang="ru-RU" sz="1200" dirty="0">
                <a:solidFill>
                  <a:srgbClr val="7700FF"/>
                </a:solidFill>
                <a:latin typeface="Century Gothic" panose="020B0502020202020204" pitchFamily="34" charset="0"/>
              </a:rPr>
              <a:t> </a:t>
            </a:r>
            <a:r>
              <a:rPr lang="ru-RU" sz="1200" dirty="0">
                <a:latin typeface="Century Gothic" panose="020B0502020202020204" pitchFamily="34" charset="0"/>
              </a:rPr>
              <a:t>показали потенциал, но результаты зависят от точной настройки и подбора моделей.</a:t>
            </a:r>
          </a:p>
          <a:p>
            <a:r>
              <a:rPr lang="ru-RU" sz="1200" dirty="0" err="1">
                <a:latin typeface="Century Gothic" panose="020B0502020202020204" pitchFamily="34" charset="0"/>
              </a:rPr>
              <a:t>Стекинг</a:t>
            </a:r>
            <a:r>
              <a:rPr lang="ru-RU" sz="1200" dirty="0">
                <a:latin typeface="Century Gothic" panose="020B0502020202020204" pitchFamily="34" charset="0"/>
              </a:rPr>
              <a:t> требует доработки, но способен улучшить финальное качество за счёт объединения сильных сторон разных подходов.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605D1-DDE5-4DD5-B820-E44C875D6730}"/>
              </a:ext>
            </a:extLst>
          </p:cNvPr>
          <p:cNvSpPr txBox="1"/>
          <p:nvPr/>
        </p:nvSpPr>
        <p:spPr>
          <a:xfrm>
            <a:off x="5403544" y="2635276"/>
            <a:ext cx="3616991" cy="2308324"/>
          </a:xfrm>
          <a:prstGeom prst="rect">
            <a:avLst/>
          </a:prstGeom>
          <a:noFill/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200" u="sng" dirty="0">
                <a:latin typeface="Century Gothic" panose="020B0502020202020204" pitchFamily="34" charset="0"/>
              </a:rPr>
              <a:t>Рекомендации: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1) Сделать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XGBoost</a:t>
            </a:r>
            <a:r>
              <a:rPr lang="ru-RU" sz="1200" dirty="0">
                <a:latin typeface="Century Gothic" panose="020B0502020202020204" pitchFamily="34" charset="0"/>
              </a:rPr>
              <a:t> основной боевой моделью.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2)  Расширить интерпретацию признаков через SHAP или LIME.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3) Углубить анализ </a:t>
            </a:r>
            <a:r>
              <a:rPr lang="ru-RU" sz="1200" dirty="0" err="1">
                <a:latin typeface="Century Gothic" panose="020B0502020202020204" pitchFamily="34" charset="0"/>
              </a:rPr>
              <a:t>удерживаемости</a:t>
            </a:r>
            <a:r>
              <a:rPr lang="ru-RU" sz="1200" dirty="0">
                <a:latin typeface="Century Gothic" panose="020B0502020202020204" pitchFamily="34" charset="0"/>
              </a:rPr>
              <a:t> клиентов с помощью кластеризации по поведенческим паттернам, анализа причин оттока (частота заказов, рейтинг </a:t>
            </a:r>
            <a:r>
              <a:rPr lang="ru-RU" sz="1200" dirty="0" err="1">
                <a:latin typeface="Century Gothic" panose="020B0502020202020204" pitchFamily="34" charset="0"/>
              </a:rPr>
              <a:t>и.т.д</a:t>
            </a:r>
            <a:r>
              <a:rPr lang="ru-RU" sz="1200" dirty="0">
                <a:latin typeface="Century Gothic" panose="020B0502020202020204" pitchFamily="34" charset="0"/>
              </a:rPr>
              <a:t>.)</a:t>
            </a:r>
          </a:p>
          <a:p>
            <a:r>
              <a:rPr lang="ru-RU" sz="1200" dirty="0">
                <a:latin typeface="Century Gothic" panose="020B0502020202020204" pitchFamily="34" charset="0"/>
              </a:rPr>
              <a:t>4) Продумать стратегию реагирования на предсказания (скидки, </a:t>
            </a:r>
            <a:r>
              <a:rPr lang="ru-RU" sz="1200" dirty="0" err="1">
                <a:latin typeface="Century Gothic" panose="020B0502020202020204" pitchFamily="34" charset="0"/>
              </a:rPr>
              <a:t>пуш</a:t>
            </a:r>
            <a:r>
              <a:rPr lang="ru-RU" sz="1200" dirty="0">
                <a:latin typeface="Century Gothic" panose="020B0502020202020204" pitchFamily="34" charset="0"/>
              </a:rPr>
              <a:t>-уведомления, персональные предложения).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1572A-B1E1-4F7C-BAF6-047CEFEC9AEB}"/>
              </a:ext>
            </a:extLst>
          </p:cNvPr>
          <p:cNvSpPr txBox="1"/>
          <p:nvPr/>
        </p:nvSpPr>
        <p:spPr>
          <a:xfrm>
            <a:off x="3294" y="410156"/>
            <a:ext cx="2843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>
                <a:latin typeface="Century Gothic" panose="020B0502020202020204" pitchFamily="34" charset="0"/>
              </a:rPr>
              <a:t>Лидеры по метрике PR-AUC</a:t>
            </a:r>
            <a:r>
              <a:rPr lang="ru-RU" dirty="0">
                <a:latin typeface="Century Gothic" panose="020B0502020202020204" pitchFamily="34" charset="0"/>
              </a:rPr>
              <a:t>:</a:t>
            </a:r>
          </a:p>
          <a:p>
            <a:endParaRPr lang="ru-RU" dirty="0"/>
          </a:p>
        </p:txBody>
      </p:sp>
      <p:pic>
        <p:nvPicPr>
          <p:cNvPr id="14" name="Рисунок 13" descr="Стрелка: поворот вправо">
            <a:extLst>
              <a:ext uri="{FF2B5EF4-FFF2-40B4-BE49-F238E27FC236}">
                <a16:creationId xmlns:a16="http://schemas.microsoft.com/office/drawing/2014/main" id="{46BD6D2F-9FDF-48C4-8777-76F2BA5AA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2954" y="617015"/>
            <a:ext cx="280930" cy="2809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039D66-7980-413C-A3C9-BC02EDE7D951}"/>
              </a:ext>
            </a:extLst>
          </p:cNvPr>
          <p:cNvSpPr txBox="1"/>
          <p:nvPr/>
        </p:nvSpPr>
        <p:spPr>
          <a:xfrm>
            <a:off x="5419285" y="757480"/>
            <a:ext cx="3616991" cy="1785104"/>
          </a:xfrm>
          <a:prstGeom prst="rect">
            <a:avLst/>
          </a:prstGeom>
          <a:solidFill>
            <a:srgbClr val="F6F8FB"/>
          </a:solidFill>
          <a:ln>
            <a:solidFill>
              <a:srgbClr val="7700FF"/>
            </a:solidFill>
          </a:ln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RU" u="sng" dirty="0">
                <a:solidFill>
                  <a:srgbClr val="FF4F12"/>
                </a:solidFill>
                <a:latin typeface="Century Gothic" panose="020B0502020202020204" pitchFamily="34" charset="0"/>
              </a:rPr>
              <a:t>Финальный вывод:</a:t>
            </a:r>
          </a:p>
          <a:p>
            <a:pPr indent="180000"/>
            <a:r>
              <a:rPr lang="ru-RU" sz="1200" dirty="0">
                <a:latin typeface="Century Gothic" panose="020B0502020202020204" pitchFamily="34" charset="0"/>
              </a:rPr>
              <a:t>Модель </a:t>
            </a:r>
            <a:r>
              <a:rPr lang="ru-RU" sz="1200" dirty="0" err="1">
                <a:solidFill>
                  <a:srgbClr val="7700FF"/>
                </a:solidFill>
                <a:latin typeface="Century Gothic" panose="020B0502020202020204" pitchFamily="34" charset="0"/>
              </a:rPr>
              <a:t>XGBoost</a:t>
            </a:r>
            <a:r>
              <a:rPr lang="ru-RU" sz="1200" dirty="0">
                <a:latin typeface="Century Gothic" panose="020B0502020202020204" pitchFamily="34" charset="0"/>
              </a:rPr>
              <a:t> с балансировкой и оптимизацией порога обеспечивает наилучшее качество для задачи предиктивного удержания клиентов.</a:t>
            </a:r>
          </a:p>
          <a:p>
            <a:pPr indent="180000"/>
            <a:r>
              <a:rPr lang="ru-RU" sz="1200" dirty="0">
                <a:latin typeface="Century Gothic" panose="020B0502020202020204" pitchFamily="34" charset="0"/>
              </a:rPr>
              <a:t>Интерпретируемые модели полезны для аналитики и объяснимости, а ансамбли — для дополнительного прироста метрик при доработке.</a:t>
            </a:r>
          </a:p>
        </p:txBody>
      </p:sp>
      <p:pic>
        <p:nvPicPr>
          <p:cNvPr id="17" name="Рисунок 16" descr="Голова с шестеренками">
            <a:extLst>
              <a:ext uri="{FF2B5EF4-FFF2-40B4-BE49-F238E27FC236}">
                <a16:creationId xmlns:a16="http://schemas.microsoft.com/office/drawing/2014/main" id="{6E07272D-D09E-4F2C-AD81-3E449BB46B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3055" y="73170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330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1611</Words>
  <Application>Microsoft Office PowerPoint</Application>
  <PresentationFormat>Экран (16:9)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Inter</vt:lpstr>
      <vt:lpstr>Century Gothic</vt:lpstr>
      <vt:lpstr>Roboto</vt:lpstr>
      <vt:lpstr>Simple Light</vt:lpstr>
      <vt:lpstr>Разработка аналитического приложения для прогнозирования оттока клиентов и анализа розничных продаж   </vt:lpstr>
      <vt:lpstr>Golgen Mean состав команды</vt:lpstr>
      <vt:lpstr>Задачи, варианты решения, план работы</vt:lpstr>
      <vt:lpstr>Cтек технологий</vt:lpstr>
      <vt:lpstr>Работа с данными</vt:lpstr>
      <vt:lpstr>АВС анализ </vt:lpstr>
      <vt:lpstr>Анализ XYZ</vt:lpstr>
      <vt:lpstr>АВС+XYZ анализ </vt:lpstr>
      <vt:lpstr>АВС+XYZ анализ. Выводы и рекомендации. </vt:lpstr>
      <vt:lpstr>Анализ RFM</vt:lpstr>
      <vt:lpstr>Когортный  анализ</vt:lpstr>
      <vt:lpstr>NLP Анализ отзывов  </vt:lpstr>
      <vt:lpstr>ML-модели для прогнозирования оттока покупателей</vt:lpstr>
      <vt:lpstr>ML-модели для прогнозирования оттока покупателей. Выводы.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Konstaninius</dc:creator>
  <cp:lastModifiedBy>Konstaninius</cp:lastModifiedBy>
  <cp:revision>29</cp:revision>
  <dcterms:modified xsi:type="dcterms:W3CDTF">2025-04-22T15:53:04Z</dcterms:modified>
</cp:coreProperties>
</file>