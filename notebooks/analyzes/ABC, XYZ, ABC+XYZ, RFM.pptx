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</p:sldIdLst>
  <p:sldSz cy="6858000" cx="12192000"/>
  <p:notesSz cx="6858000" cy="9144000"/>
  <p:embeddedFontLst>
    <p:embeddedFont>
      <p:font typeface="Nunito"/>
      <p:regular r:id="rId63"/>
      <p:bold r:id="rId64"/>
      <p:italic r:id="rId65"/>
      <p:boldItalic r:id="rId66"/>
    </p:embeddedFont>
    <p:embeddedFont>
      <p:font typeface="Corbel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1" roundtripDataSignature="AMtx7mjT2A6qp5MSjsfxB3euUbR8STnt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5D54568-E285-4597-B2C9-7C5A621D90C4}">
  <a:tblStyle styleId="{05D54568-E285-4597-B2C9-7C5A621D90C4}" styleName="Table_0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customschemas.google.com/relationships/presentationmetadata" Target="metadata"/><Relationship Id="rId70" Type="http://schemas.openxmlformats.org/officeDocument/2006/relationships/font" Target="fonts/Corbel-bold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font" Target="fonts/Nunito-bold.fntdata"/><Relationship Id="rId63" Type="http://schemas.openxmlformats.org/officeDocument/2006/relationships/font" Target="fonts/Nunito-regular.fntdata"/><Relationship Id="rId22" Type="http://schemas.openxmlformats.org/officeDocument/2006/relationships/slide" Target="slides/slide17.xml"/><Relationship Id="rId66" Type="http://schemas.openxmlformats.org/officeDocument/2006/relationships/font" Target="fonts/Nunito-boldItalic.fntdata"/><Relationship Id="rId21" Type="http://schemas.openxmlformats.org/officeDocument/2006/relationships/slide" Target="slides/slide16.xml"/><Relationship Id="rId65" Type="http://schemas.openxmlformats.org/officeDocument/2006/relationships/font" Target="fonts/Nunito-italic.fntdata"/><Relationship Id="rId24" Type="http://schemas.openxmlformats.org/officeDocument/2006/relationships/slide" Target="slides/slide19.xml"/><Relationship Id="rId68" Type="http://schemas.openxmlformats.org/officeDocument/2006/relationships/font" Target="fonts/Corbel-bold.fntdata"/><Relationship Id="rId23" Type="http://schemas.openxmlformats.org/officeDocument/2006/relationships/slide" Target="slides/slide18.xml"/><Relationship Id="rId67" Type="http://schemas.openxmlformats.org/officeDocument/2006/relationships/font" Target="fonts/Corbel-regular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Corbel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59"/>
          <p:cNvSpPr/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59"/>
          <p:cNvSpPr txBox="1"/>
          <p:nvPr>
            <p:ph type="ctrTitle"/>
          </p:nvPr>
        </p:nvSpPr>
        <p:spPr>
          <a:xfrm>
            <a:off x="1109980" y="882376"/>
            <a:ext cx="99669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DF5327"/>
              </a:buClr>
              <a:buSzPts val="7200"/>
              <a:buFont typeface="Corbel"/>
              <a:buNone/>
              <a:defRPr b="1" i="0" sz="7200" u="none" cap="none" strike="noStrike">
                <a:solidFill>
                  <a:srgbClr val="DF5327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9"/>
          <p:cNvSpPr txBox="1"/>
          <p:nvPr>
            <p:ph idx="1" type="subTitle"/>
          </p:nvPr>
        </p:nvSpPr>
        <p:spPr>
          <a:xfrm>
            <a:off x="1709530" y="3869634"/>
            <a:ext cx="8767860" cy="1388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76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6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2000"/>
            </a:lvl9pPr>
          </a:lstStyle>
          <a:p/>
        </p:txBody>
      </p:sp>
      <p:sp>
        <p:nvSpPr>
          <p:cNvPr id="16" name="Google Shape;16;p59"/>
          <p:cNvSpPr txBox="1"/>
          <p:nvPr>
            <p:ph idx="10" type="dt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9"/>
          <p:cNvSpPr txBox="1"/>
          <p:nvPr>
            <p:ph idx="11" type="ftr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9"/>
          <p:cNvSpPr txBox="1"/>
          <p:nvPr>
            <p:ph idx="12" type="sldNum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19" name="Google Shape;19;p59"/>
          <p:cNvCxnSpPr/>
          <p:nvPr/>
        </p:nvCxnSpPr>
        <p:spPr>
          <a:xfrm>
            <a:off x="1978660" y="3733800"/>
            <a:ext cx="8229601" cy="0"/>
          </a:xfrm>
          <a:prstGeom prst="straightConnector1">
            <a:avLst/>
          </a:prstGeom>
          <a:noFill/>
          <a:ln cap="flat" cmpd="sng" w="100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0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0"/>
          <p:cNvSpPr txBox="1"/>
          <p:nvPr>
            <p:ph idx="1" type="body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2004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40"/>
              <a:buChar char="•"/>
              <a:defRPr/>
            </a:lvl2pPr>
            <a:lvl3pPr indent="-320039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3pPr>
            <a:lvl4pPr indent="-320039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4pPr>
            <a:lvl5pPr indent="-320039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5pPr>
            <a:lvl6pPr indent="-320039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6pPr>
            <a:lvl7pPr indent="-320039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7pPr>
            <a:lvl8pPr indent="-32004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8pPr>
            <a:lvl9pPr indent="-32004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40"/>
              <a:buChar char="•"/>
              <a:defRPr/>
            </a:lvl9pPr>
          </a:lstStyle>
          <a:p/>
        </p:txBody>
      </p:sp>
      <p:sp>
        <p:nvSpPr>
          <p:cNvPr id="23" name="Google Shape;23;p60"/>
          <p:cNvSpPr txBox="1"/>
          <p:nvPr>
            <p:ph idx="10" type="dt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60"/>
          <p:cNvSpPr txBox="1"/>
          <p:nvPr>
            <p:ph idx="11" type="ftr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0"/>
          <p:cNvSpPr txBox="1"/>
          <p:nvPr>
            <p:ph idx="12" type="sldNum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1"/>
          <p:cNvSpPr txBox="1"/>
          <p:nvPr>
            <p:ph type="title"/>
          </p:nvPr>
        </p:nvSpPr>
        <p:spPr>
          <a:xfrm>
            <a:off x="1106424" y="1173575"/>
            <a:ext cx="99669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DF5327"/>
              </a:buClr>
              <a:buSzPts val="7200"/>
              <a:buFont typeface="Corbel"/>
              <a:buNone/>
              <a:defRPr b="1" i="0" sz="7200" u="none" cap="none" strike="noStrike">
                <a:solidFill>
                  <a:srgbClr val="DF5327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1"/>
          <p:cNvSpPr txBox="1"/>
          <p:nvPr>
            <p:ph idx="1" type="body"/>
          </p:nvPr>
        </p:nvSpPr>
        <p:spPr>
          <a:xfrm>
            <a:off x="1709928" y="4154520"/>
            <a:ext cx="8769096" cy="13638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9" name="Google Shape;29;p61"/>
          <p:cNvSpPr txBox="1"/>
          <p:nvPr>
            <p:ph idx="10" type="dt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1"/>
          <p:cNvSpPr txBox="1"/>
          <p:nvPr>
            <p:ph idx="11" type="ftr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1"/>
          <p:cNvSpPr txBox="1"/>
          <p:nvPr>
            <p:ph idx="12" type="sldNum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32" name="Google Shape;32;p61"/>
          <p:cNvCxnSpPr/>
          <p:nvPr/>
        </p:nvCxnSpPr>
        <p:spPr>
          <a:xfrm>
            <a:off x="1981200" y="4020408"/>
            <a:ext cx="8229601" cy="0"/>
          </a:xfrm>
          <a:prstGeom prst="straightConnector1">
            <a:avLst/>
          </a:prstGeom>
          <a:noFill/>
          <a:ln cap="flat" cmpd="sng" w="100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2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2"/>
          <p:cNvSpPr txBox="1"/>
          <p:nvPr>
            <p:ph idx="1" type="body"/>
          </p:nvPr>
        </p:nvSpPr>
        <p:spPr>
          <a:xfrm>
            <a:off x="1143000" y="2057399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036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  <a:defRPr sz="2200"/>
            </a:lvl1pPr>
            <a:lvl2pPr indent="-3302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•"/>
              <a:defRPr sz="2000"/>
            </a:lvl2pPr>
            <a:lvl3pPr indent="-320039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 sz="1800"/>
            </a:lvl3pPr>
            <a:lvl4pPr indent="-30988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4pPr>
            <a:lvl5pPr indent="-309879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5pPr>
            <a:lvl6pPr indent="-309879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6pPr>
            <a:lvl7pPr indent="-309879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7pPr>
            <a:lvl8pPr indent="-30987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8pPr>
            <a:lvl9pPr indent="-309879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280"/>
              <a:buChar char="•"/>
              <a:defRPr sz="1600"/>
            </a:lvl9pPr>
          </a:lstStyle>
          <a:p/>
        </p:txBody>
      </p:sp>
      <p:sp>
        <p:nvSpPr>
          <p:cNvPr id="36" name="Google Shape;36;p62"/>
          <p:cNvSpPr txBox="1"/>
          <p:nvPr>
            <p:ph idx="2" type="body"/>
          </p:nvPr>
        </p:nvSpPr>
        <p:spPr>
          <a:xfrm>
            <a:off x="6267612" y="20574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036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  <a:defRPr sz="2200"/>
            </a:lvl1pPr>
            <a:lvl2pPr indent="-3302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•"/>
              <a:defRPr sz="2000"/>
            </a:lvl2pPr>
            <a:lvl3pPr indent="-320039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 sz="1800"/>
            </a:lvl3pPr>
            <a:lvl4pPr indent="-30988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4pPr>
            <a:lvl5pPr indent="-309879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5pPr>
            <a:lvl6pPr indent="-309879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6pPr>
            <a:lvl7pPr indent="-309879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7pPr>
            <a:lvl8pPr indent="-30987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8pPr>
            <a:lvl9pPr indent="-309879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280"/>
              <a:buChar char="•"/>
              <a:defRPr sz="1600"/>
            </a:lvl9pPr>
          </a:lstStyle>
          <a:p/>
        </p:txBody>
      </p:sp>
      <p:sp>
        <p:nvSpPr>
          <p:cNvPr id="37" name="Google Shape;37;p62"/>
          <p:cNvSpPr txBox="1"/>
          <p:nvPr>
            <p:ph idx="10" type="dt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2"/>
          <p:cNvSpPr txBox="1"/>
          <p:nvPr>
            <p:ph idx="11" type="ftr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2"/>
          <p:cNvSpPr txBox="1"/>
          <p:nvPr>
            <p:ph idx="12" type="sldNum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3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3"/>
          <p:cNvSpPr txBox="1"/>
          <p:nvPr>
            <p:ph idx="1" type="body"/>
          </p:nvPr>
        </p:nvSpPr>
        <p:spPr>
          <a:xfrm>
            <a:off x="1143000" y="2001511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3" name="Google Shape;43;p63"/>
          <p:cNvSpPr txBox="1"/>
          <p:nvPr>
            <p:ph idx="2" type="body"/>
          </p:nvPr>
        </p:nvSpPr>
        <p:spPr>
          <a:xfrm>
            <a:off x="1143000" y="2721483"/>
            <a:ext cx="475488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036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  <a:defRPr sz="2200"/>
            </a:lvl1pPr>
            <a:lvl2pPr indent="-3302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•"/>
              <a:defRPr sz="2000"/>
            </a:lvl2pPr>
            <a:lvl3pPr indent="-320039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 sz="1800"/>
            </a:lvl3pPr>
            <a:lvl4pPr indent="-30988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4pPr>
            <a:lvl5pPr indent="-309879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5pPr>
            <a:lvl6pPr indent="-309879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6pPr>
            <a:lvl7pPr indent="-309879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7pPr>
            <a:lvl8pPr indent="-30987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8pPr>
            <a:lvl9pPr indent="-309879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280"/>
              <a:buChar char="•"/>
              <a:defRPr sz="1600"/>
            </a:lvl9pPr>
          </a:lstStyle>
          <a:p/>
        </p:txBody>
      </p:sp>
      <p:sp>
        <p:nvSpPr>
          <p:cNvPr id="44" name="Google Shape;44;p63"/>
          <p:cNvSpPr txBox="1"/>
          <p:nvPr>
            <p:ph idx="3" type="body"/>
          </p:nvPr>
        </p:nvSpPr>
        <p:spPr>
          <a:xfrm>
            <a:off x="6269173" y="1999032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5" name="Google Shape;45;p63"/>
          <p:cNvSpPr txBox="1"/>
          <p:nvPr>
            <p:ph idx="4" type="body"/>
          </p:nvPr>
        </p:nvSpPr>
        <p:spPr>
          <a:xfrm>
            <a:off x="6269173" y="2719322"/>
            <a:ext cx="475488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036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  <a:defRPr sz="2200"/>
            </a:lvl1pPr>
            <a:lvl2pPr indent="-3302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•"/>
              <a:defRPr sz="2000"/>
            </a:lvl2pPr>
            <a:lvl3pPr indent="-320039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 sz="1800"/>
            </a:lvl3pPr>
            <a:lvl4pPr indent="-30988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4pPr>
            <a:lvl5pPr indent="-309879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5pPr>
            <a:lvl6pPr indent="-309879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6pPr>
            <a:lvl7pPr indent="-309879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7pPr>
            <a:lvl8pPr indent="-30987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8pPr>
            <a:lvl9pPr indent="-309879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280"/>
              <a:buChar char="•"/>
              <a:defRPr sz="1600"/>
            </a:lvl9pPr>
          </a:lstStyle>
          <a:p/>
        </p:txBody>
      </p:sp>
      <p:sp>
        <p:nvSpPr>
          <p:cNvPr id="46" name="Google Shape;46;p63"/>
          <p:cNvSpPr txBox="1"/>
          <p:nvPr>
            <p:ph idx="10" type="dt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3"/>
          <p:cNvSpPr txBox="1"/>
          <p:nvPr>
            <p:ph idx="11" type="ftr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3"/>
          <p:cNvSpPr txBox="1"/>
          <p:nvPr>
            <p:ph idx="12" type="sldNum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4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4"/>
          <p:cNvSpPr txBox="1"/>
          <p:nvPr>
            <p:ph idx="10" type="dt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4"/>
          <p:cNvSpPr txBox="1"/>
          <p:nvPr>
            <p:ph idx="11" type="ftr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4"/>
          <p:cNvSpPr txBox="1"/>
          <p:nvPr>
            <p:ph idx="12" type="sldNum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5"/>
          <p:cNvSpPr txBox="1"/>
          <p:nvPr>
            <p:ph idx="10" type="dt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5"/>
          <p:cNvSpPr txBox="1"/>
          <p:nvPr>
            <p:ph idx="11" type="ftr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5"/>
          <p:cNvSpPr txBox="1"/>
          <p:nvPr>
            <p:ph idx="12" type="sldNum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6"/>
          <p:cNvSpPr txBox="1"/>
          <p:nvPr>
            <p:ph type="title"/>
          </p:nvPr>
        </p:nvSpPr>
        <p:spPr>
          <a:xfrm>
            <a:off x="1143000" y="1097280"/>
            <a:ext cx="39319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orbel"/>
              <a:buNone/>
              <a:defRPr b="0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6"/>
          <p:cNvSpPr txBox="1"/>
          <p:nvPr>
            <p:ph idx="1" type="body"/>
          </p:nvPr>
        </p:nvSpPr>
        <p:spPr>
          <a:xfrm>
            <a:off x="5852159" y="1097280"/>
            <a:ext cx="521208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60"/>
              <a:buChar char="•"/>
              <a:defRPr sz="3200"/>
            </a:lvl1pPr>
            <a:lvl2pPr indent="-37084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240"/>
              <a:buChar char="•"/>
              <a:defRPr sz="2800"/>
            </a:lvl2pPr>
            <a:lvl3pPr indent="-350519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920"/>
              <a:buChar char="•"/>
              <a:defRPr sz="24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20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20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20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20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20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Char char="•"/>
              <a:defRPr sz="2000"/>
            </a:lvl9pPr>
          </a:lstStyle>
          <a:p/>
        </p:txBody>
      </p:sp>
      <p:sp>
        <p:nvSpPr>
          <p:cNvPr id="61" name="Google Shape;61;p66"/>
          <p:cNvSpPr txBox="1"/>
          <p:nvPr>
            <p:ph idx="2" type="body"/>
          </p:nvPr>
        </p:nvSpPr>
        <p:spPr>
          <a:xfrm>
            <a:off x="1143000" y="2834640"/>
            <a:ext cx="39319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60"/>
              <a:buNone/>
              <a:defRPr sz="1700"/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62" name="Google Shape;62;p66"/>
          <p:cNvSpPr txBox="1"/>
          <p:nvPr>
            <p:ph idx="10" type="dt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6"/>
          <p:cNvSpPr txBox="1"/>
          <p:nvPr>
            <p:ph idx="11" type="ftr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6"/>
          <p:cNvSpPr txBox="1"/>
          <p:nvPr>
            <p:ph idx="12" type="sldNum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7"/>
          <p:cNvSpPr txBox="1"/>
          <p:nvPr>
            <p:ph type="title"/>
          </p:nvPr>
        </p:nvSpPr>
        <p:spPr>
          <a:xfrm>
            <a:off x="1143000" y="1097280"/>
            <a:ext cx="39319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orbel"/>
              <a:buNone/>
              <a:defRPr b="0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7"/>
          <p:cNvSpPr/>
          <p:nvPr>
            <p:ph idx="2" type="pic"/>
          </p:nvPr>
        </p:nvSpPr>
        <p:spPr>
          <a:xfrm>
            <a:off x="5413248" y="1069847"/>
            <a:ext cx="6099048" cy="48006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7"/>
          <p:cNvSpPr txBox="1"/>
          <p:nvPr>
            <p:ph idx="1" type="body"/>
          </p:nvPr>
        </p:nvSpPr>
        <p:spPr>
          <a:xfrm>
            <a:off x="1143000" y="2834640"/>
            <a:ext cx="393192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60"/>
              <a:buNone/>
              <a:defRPr sz="1700"/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69" name="Google Shape;69;p67"/>
          <p:cNvSpPr txBox="1"/>
          <p:nvPr>
            <p:ph idx="10" type="dt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7"/>
          <p:cNvSpPr txBox="1"/>
          <p:nvPr>
            <p:ph idx="11" type="ftr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7"/>
          <p:cNvSpPr txBox="1"/>
          <p:nvPr>
            <p:ph idx="12" type="sldNum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8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8"/>
          <p:cNvSpPr txBox="1"/>
          <p:nvPr>
            <p:ph idx="1" type="body"/>
          </p:nvPr>
        </p:nvSpPr>
        <p:spPr>
          <a:xfrm rot="5400000">
            <a:off x="4060136" y="-859736"/>
            <a:ext cx="4038600" cy="98728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2004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40"/>
              <a:buChar char="•"/>
              <a:defRPr/>
            </a:lvl2pPr>
            <a:lvl3pPr indent="-320039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3pPr>
            <a:lvl4pPr indent="-320039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4pPr>
            <a:lvl5pPr indent="-320039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5pPr>
            <a:lvl6pPr indent="-320039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6pPr>
            <a:lvl7pPr indent="-320039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7pPr>
            <a:lvl8pPr indent="-32004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8pPr>
            <a:lvl9pPr indent="-32004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40"/>
              <a:buChar char="•"/>
              <a:defRPr/>
            </a:lvl9pPr>
          </a:lstStyle>
          <a:p/>
        </p:txBody>
      </p:sp>
      <p:sp>
        <p:nvSpPr>
          <p:cNvPr id="75" name="Google Shape;75;p68"/>
          <p:cNvSpPr txBox="1"/>
          <p:nvPr>
            <p:ph idx="10" type="dt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8"/>
          <p:cNvSpPr txBox="1"/>
          <p:nvPr>
            <p:ph idx="11" type="ftr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8"/>
          <p:cNvSpPr txBox="1"/>
          <p:nvPr>
            <p:ph idx="12" type="sldNum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9"/>
          <p:cNvSpPr txBox="1"/>
          <p:nvPr>
            <p:ph type="title"/>
          </p:nvPr>
        </p:nvSpPr>
        <p:spPr>
          <a:xfrm rot="5400000">
            <a:off x="7181850" y="2305050"/>
            <a:ext cx="541020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69"/>
          <p:cNvSpPr txBox="1"/>
          <p:nvPr>
            <p:ph idx="1" type="body"/>
          </p:nvPr>
        </p:nvSpPr>
        <p:spPr>
          <a:xfrm rot="5400000">
            <a:off x="2152650" y="-247650"/>
            <a:ext cx="5410200" cy="74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2004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40"/>
              <a:buChar char="•"/>
              <a:defRPr/>
            </a:lvl2pPr>
            <a:lvl3pPr indent="-320039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3pPr>
            <a:lvl4pPr indent="-320039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4pPr>
            <a:lvl5pPr indent="-320039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5pPr>
            <a:lvl6pPr indent="-320039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6pPr>
            <a:lvl7pPr indent="-320039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7pPr>
            <a:lvl8pPr indent="-32004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8pPr>
            <a:lvl9pPr indent="-32004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40"/>
              <a:buChar char="•"/>
              <a:defRPr/>
            </a:lvl9pPr>
          </a:lstStyle>
          <a:p/>
        </p:txBody>
      </p:sp>
      <p:sp>
        <p:nvSpPr>
          <p:cNvPr id="81" name="Google Shape;81;p69"/>
          <p:cNvSpPr txBox="1"/>
          <p:nvPr>
            <p:ph idx="10" type="dt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9"/>
          <p:cNvSpPr txBox="1"/>
          <p:nvPr>
            <p:ph idx="11" type="ftr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69"/>
          <p:cNvSpPr txBox="1"/>
          <p:nvPr>
            <p:ph idx="12" type="sldNum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CD5FB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8"/>
          <p:cNvSpPr/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58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  <a:defRPr b="0" i="0" sz="44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58"/>
          <p:cNvSpPr txBox="1"/>
          <p:nvPr>
            <p:ph idx="1" type="body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036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Corbel"/>
              <a:buChar char="•"/>
              <a:defRPr b="0" i="0" sz="2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orbel"/>
              <a:buChar char="•"/>
              <a:defRPr b="0" i="0" sz="20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20039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Corbel"/>
              <a:buChar char="•"/>
              <a:defRPr b="0" i="0" sz="18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0988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Corbel"/>
              <a:buChar char="•"/>
              <a:defRPr b="0" i="0" sz="16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09879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Corbel"/>
              <a:buChar char="•"/>
              <a:defRPr b="0" i="0" sz="16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09879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Corbel"/>
              <a:buChar char="•"/>
              <a:defRPr b="0" i="0" sz="16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09879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Corbel"/>
              <a:buChar char="•"/>
              <a:defRPr b="0" i="0" sz="16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09879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Corbel"/>
              <a:buChar char="•"/>
              <a:defRPr b="0" i="0" sz="16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09879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280"/>
              <a:buFont typeface="Corbel"/>
              <a:buChar char="•"/>
              <a:defRPr b="0" i="0" sz="16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9" name="Google Shape;9;p58"/>
          <p:cNvSpPr txBox="1"/>
          <p:nvPr>
            <p:ph idx="10" type="dt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0" name="Google Shape;10;p58"/>
          <p:cNvSpPr txBox="1"/>
          <p:nvPr>
            <p:ph idx="11" type="ftr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1" name="Google Shape;11;p58"/>
          <p:cNvSpPr txBox="1"/>
          <p:nvPr>
            <p:ph idx="12" type="sldNum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0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3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109980" y="882376"/>
            <a:ext cx="99669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DF5327"/>
              </a:buClr>
              <a:buSzPts val="7200"/>
              <a:buFont typeface="Corbel"/>
              <a:buNone/>
            </a:pPr>
            <a:r>
              <a:rPr lang="ru-RU"/>
              <a:t>АВС, XYZ, ABC+XYZ, RFM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709530" y="3869634"/>
            <a:ext cx="8767860" cy="1388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60"/>
              <a:buNone/>
            </a:pPr>
            <a:r>
              <a:rPr lang="ru-RU"/>
              <a:t>Синикина Анастасия Александровна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ctrTitle"/>
          </p:nvPr>
        </p:nvSpPr>
        <p:spPr>
          <a:xfrm>
            <a:off x="1109980" y="882376"/>
            <a:ext cx="99669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98DF1"/>
              </a:buClr>
              <a:buSzPts val="7200"/>
              <a:buFont typeface="Corbel"/>
              <a:buNone/>
            </a:pPr>
            <a:r>
              <a:rPr lang="ru-RU">
                <a:solidFill>
                  <a:srgbClr val="498DF1"/>
                </a:solidFill>
              </a:rPr>
              <a:t>АНАЛИЗ «АВС»</a:t>
            </a:r>
            <a:endParaRPr>
              <a:solidFill>
                <a:srgbClr val="498DF1"/>
              </a:solidFill>
            </a:endParaRPr>
          </a:p>
        </p:txBody>
      </p:sp>
      <p:sp>
        <p:nvSpPr>
          <p:cNvPr id="95" name="Google Shape;95;p2"/>
          <p:cNvSpPr txBox="1"/>
          <p:nvPr>
            <p:ph idx="1" type="subTitle"/>
          </p:nvPr>
        </p:nvSpPr>
        <p:spPr>
          <a:xfrm>
            <a:off x="1027545" y="1690084"/>
            <a:ext cx="9144000" cy="7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</a:pPr>
            <a:r>
              <a:rPr lang="ru-RU"/>
              <a:t>АВС1_price (категории товаров+цена)</a:t>
            </a:r>
            <a:endParaRPr/>
          </a:p>
        </p:txBody>
      </p:sp>
      <p:sp>
        <p:nvSpPr>
          <p:cNvPr id="101" name="Google Shape;101;p3"/>
          <p:cNvSpPr txBox="1"/>
          <p:nvPr>
            <p:ph idx="1" type="body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60"/>
              <a:buChar char="•"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Суммарная выручка: 13591643.70$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Товары, попавшие в категорию A: Количество наименований товаров, попавших в категорию A: 17. Товары категории A занимают 22.97% от всех товаров, и приносят около 79.62% прибыли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Товары, попавшие в категорию B: Количество наименований товаров, попавших в категорию B: 16 . Товары категории B занимают 21.62% от всех товаров, и приносят около 15.21% прибыли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Товары, попавшие в категорию C: Количество наименований товаров, попавших в категорию C: 41.  Товары категории C занимают 55.41% от всех товаров, и приносят около 5.16% прибыли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7324" y="328983"/>
            <a:ext cx="7751619" cy="6191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</a:pPr>
            <a:r>
              <a:rPr lang="ru-RU"/>
              <a:t>АВС1_price_delivery (категории товаров+цена+доставка)</a:t>
            </a:r>
            <a:endParaRPr/>
          </a:p>
        </p:txBody>
      </p:sp>
      <p:sp>
        <p:nvSpPr>
          <p:cNvPr id="112" name="Google Shape;112;p5"/>
          <p:cNvSpPr txBox="1"/>
          <p:nvPr>
            <p:ph idx="1" type="body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60"/>
              <a:buChar char="•"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Суммарная выручка: 15843553.24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Товары, попавшие в категорию A: Количество наименований товаров, попавших в категорию A: 17 Товары категории A занимают 22.97% от всех товаров, и приносят около 79.77% прибыли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Товары, попавшие в категорию B: Количество наименований товаров, попавших в категорию B: 16 Товары категории B занимают 21.62% от всех товаров, и приносят около 14.99% прибыли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Товары, попавшие в категорию C: Количество наименований товаров, попавших в категорию C: 41 Товары категории C занимают 55.41% от всех товаров, и приносят около 5.25% прибыли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 txBox="1"/>
          <p:nvPr>
            <p:ph idx="1" type="body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112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60"/>
              <a:buNone/>
            </a:pPr>
            <a:r>
              <a:t/>
            </a:r>
            <a:endParaRPr/>
          </a:p>
        </p:txBody>
      </p:sp>
      <p:pic>
        <p:nvPicPr>
          <p:cNvPr id="119" name="Google Shape;1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1597" y="260323"/>
            <a:ext cx="7970549" cy="6366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</a:pPr>
            <a:r>
              <a:rPr lang="ru-RU"/>
              <a:t>АВС1_delivery (категории товаров+доставка)</a:t>
            </a:r>
            <a:endParaRPr/>
          </a:p>
        </p:txBody>
      </p:sp>
      <p:sp>
        <p:nvSpPr>
          <p:cNvPr id="125" name="Google Shape;125;p7"/>
          <p:cNvSpPr txBox="1"/>
          <p:nvPr>
            <p:ph idx="1" type="body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60"/>
              <a:buChar char="•"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Суммарная выручка: 2251909.54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Товары, попавшие в категорию A: Количество наименований товаров, попавших в категорию A: 16 Товары категории A занимают 21.62% от всех товаров, и приносят около 79.26% прибыли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Товары, попавшие в категорию B: Количество наименований товаров, попавших в категорию B: 17 Товары категории B занимают 22.97% от всех товаров, и приносят около 15.46% прибыли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Товары, попавшие в категорию C: Количество наименований товаров, попавших в категорию C: 41 Товары категории C занимают 55.41% от всех товаров, и приносят около 5.28% прибыли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7347" y="298614"/>
            <a:ext cx="7841672" cy="6263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 txBox="1"/>
          <p:nvPr>
            <p:ph type="title"/>
          </p:nvPr>
        </p:nvSpPr>
        <p:spPr>
          <a:xfrm>
            <a:off x="1706418" y="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</a:pPr>
            <a:r>
              <a:rPr lang="ru-RU"/>
              <a:t>Выводы по категориям товаров: </a:t>
            </a:r>
            <a:endParaRPr/>
          </a:p>
        </p:txBody>
      </p:sp>
      <p:sp>
        <p:nvSpPr>
          <p:cNvPr id="136" name="Google Shape;136;p9"/>
          <p:cNvSpPr txBox="1"/>
          <p:nvPr>
            <p:ph idx="1" type="body"/>
          </p:nvPr>
        </p:nvSpPr>
        <p:spPr>
          <a:xfrm>
            <a:off x="785092" y="1099127"/>
            <a:ext cx="10230780" cy="5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0000"/>
              <a:buChar char="•"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При сравнении результатов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АВС1_price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АВС1_price_delivery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мы видим, что нет отличий по количеству товаров в категориях (А, В и С), отличия в процентном соотношении незначительны.  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Категория А: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17 видов товаров (это 22.9% от общего количества) являются ведущими и приносят больше всего прибыли- около 79%. </a:t>
            </a:r>
            <a:r>
              <a:rPr lang="ru-RU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Рекомендации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стоит убедиться, что у вас всегда есть достаточно этих товаров в наличии; вложите деньги в рекламу этих товаров; следите за конкурентами, чтобы ваши цены оставались привлекательными.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Категория В: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16 видов товаров (это 21.62% от общего количества) являются так же важными, но приносят немного меньше денег – около 15% . </a:t>
            </a:r>
            <a:r>
              <a:rPr lang="ru-RU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Рекомендации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поддерживайте достаточный запас этих товаров; подумайте о небольших акциях или скидках, чтобы увеличить продажи.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Категория С: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41 вид товаров (это 55.41% от общего количества) плохо продаются, не пользуются спросом и приносят меньше всего денег около 5%. </a:t>
            </a:r>
            <a:r>
              <a:rPr lang="ru-RU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Рекомендовано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не закупайте много этих товаров; продавайте их со скидкой, чтобы избавиться от остатков; подумайте о том, чтобы убрать их из ассортимента т.к они не приносят прибыли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Выручка АВС1_price_delivery составила 15843553.24$ ,а АВС1_price - 13591643.70$, разница между выручками составляет - 2251909.54$, что как раз является отдельной выручкой за доставку АВС1_delivery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АВС1_delivery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отличается не только суммарным доходом, но немного изменяется соотношение категорий и видов товаров, входящих в эти категории: в группу А входит 16 видов товаров (21.6%), что приносит также около 79% прибыли. В категории В – 17 товаров (22.9%) и составляет  около 15% всей прибыли. Категория С неизменна. Не смотря на то, что товары мигрировали, процентное соотношение по прибыли осталось неизменным.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6266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96266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96266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96266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96266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96266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96266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96266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</a:pPr>
            <a:r>
              <a:rPr b="1" lang="ru-RU"/>
              <a:t>АВС2_Price (цена+идентификатор товара)</a:t>
            </a:r>
            <a:endParaRPr/>
          </a:p>
        </p:txBody>
      </p:sp>
      <p:sp>
        <p:nvSpPr>
          <p:cNvPr id="142" name="Google Shape;142;p10"/>
          <p:cNvSpPr txBox="1"/>
          <p:nvPr>
            <p:ph idx="1" type="body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Теперь рассмотрим не общие категории товаров, а конкретно каждый вид товара.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Суммарная выручка: 13591643.70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Товары, попавшие в категорию A: Количество наименований товаров, попавших в категорию A: 8535 Товары категории A занимают 25.90% от всех товаров, и приносят около 80.00% прибыли 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Товары, попавшие в категорию B: Количество наименований товаров, попавших в категорию B: 11301 Товары категории B занимают 34.30% от всех товаров, и приносят около 15.00% прибыли 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Товары, попавшие в категорию C: Количество наименований товаров, попавших в категорию C: 13115 Товары категории C занимают 39.80% от всех товаров, и приносят около 5.00% прибыли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orbel"/>
              <a:buNone/>
            </a:pPr>
            <a:r>
              <a:rPr b="1" lang="ru-RU"/>
              <a:t>АВС2_Price+Delivery (цена+доставка+идентификатор товара)</a:t>
            </a:r>
            <a:endParaRPr/>
          </a:p>
        </p:txBody>
      </p:sp>
      <p:sp>
        <p:nvSpPr>
          <p:cNvPr id="148" name="Google Shape;148;p11"/>
          <p:cNvSpPr txBox="1"/>
          <p:nvPr>
            <p:ph idx="1" type="body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Суммарная выручка: 15843553.24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Товары, попавшие в категорию A: Количество наименований товаров, попавших в категорию A: 9252 Товары категории A занимают 28.08% от всех товаров, и приносят около 80.00% прибыли 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Товары, попавшие в категорию B: Количество наименований товаров, попавших в категорию B: 11759 Товары категории B занимают 35.69% от всех товаров, и приносят около 15.00% прибыли 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Товары, попавшие в категорию C: Количество наименований товаров, попавших в категорию C: 11940 Товары категории C занимают 36.24% от всех товаров, и приносят около 5.00% прибыли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</a:pPr>
            <a:r>
              <a:rPr b="1" lang="ru-RU"/>
              <a:t>АВС2_Delivery(доставка+идентификатор товара)</a:t>
            </a:r>
            <a:endParaRPr/>
          </a:p>
        </p:txBody>
      </p:sp>
      <p:sp>
        <p:nvSpPr>
          <p:cNvPr id="154" name="Google Shape;154;p12"/>
          <p:cNvSpPr txBox="1"/>
          <p:nvPr>
            <p:ph idx="1" type="body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Суммарная выручка: 2251909.54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Товары, попавшие в категорию A: Количество наименований товаров, попавших в категорию A: 11021 Товары категории A занимают 33.45% от всех товаров, и приносят около 80.00% прибыли 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Товары, попавшие в категорию B: Количество наименований товаров, попавших в категорию B: 12896 Товары категории B занимают 39.14% от всех товаров, и приносят около 15.00% прибыли 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Товары, попавшие в категорию C: Количество наименований товаров, попавших в категорию C: 9034 Товары категории C занимают 27.42% от всех товаров, и приносят около 5.00% прибыли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"/>
          <p:cNvSpPr txBox="1"/>
          <p:nvPr>
            <p:ph type="title"/>
          </p:nvPr>
        </p:nvSpPr>
        <p:spPr>
          <a:xfrm>
            <a:off x="1143000" y="350982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</a:pPr>
            <a:r>
              <a:rPr lang="ru-RU"/>
              <a:t>Выводы по идентификатору товаров: </a:t>
            </a:r>
            <a:endParaRPr/>
          </a:p>
        </p:txBody>
      </p:sp>
      <p:sp>
        <p:nvSpPr>
          <p:cNvPr id="160" name="Google Shape;160;p13"/>
          <p:cNvSpPr txBox="1"/>
          <p:nvPr>
            <p:ph idx="1" type="body"/>
          </p:nvPr>
        </p:nvSpPr>
        <p:spPr>
          <a:xfrm>
            <a:off x="1143000" y="1470660"/>
            <a:ext cx="9872871" cy="4625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0000"/>
              <a:buChar char="•"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При сравнении результатов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АВС2_price,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АВС2_price+delivery и АВС2_delivery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мы видим, что нет отличий по процентной прибыли, но есть разница в количестве видов товаров входящих в различные категории.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Категория А приносит 80% прибыли: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АВС2_price (</a:t>
            </a:r>
            <a:r>
              <a:rPr lang="ru-RU"/>
              <a:t>8535 видов, что составляет 25.90% от всех товаров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АВС2_price+delivery(</a:t>
            </a:r>
            <a:r>
              <a:rPr lang="ru-RU"/>
              <a:t>9252 видов, что составляет 28.08% от всех товаров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и АВС2_delivery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ru-RU"/>
              <a:t>11021 видов, что составляет 33.45% от всех товаров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ru-RU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Рекомендации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стоит убедиться, что у вас всегда есть достаточно этих товаров в наличии; вложите деньги в рекламу этих товаров; следите за конкурентами, чтобы ваши цены оставались привлекательными. 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Категория В приносит 15% прибыли: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АВС2_price (</a:t>
            </a:r>
            <a:r>
              <a:rPr lang="ru-RU"/>
              <a:t>11301 видов, что составляет 34.30% от всех товаров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АВС2_price+delivery(</a:t>
            </a:r>
            <a:r>
              <a:rPr lang="ru-RU"/>
              <a:t>11759 видов, что составляет 35.69% от всех товаров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и АВС2_delivery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ru-RU"/>
              <a:t>12896 видов, что составляет 39.14% от всех товаров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ru-RU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Рекомендации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поддерживайте достаточный запас этих товаров; подумайте о небольших акциях или скидках, чтобы увеличить продажи.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Категория С приносит 5% прибыли: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АВС2_price (</a:t>
            </a:r>
            <a:r>
              <a:rPr lang="ru-RU"/>
              <a:t>13115  видов, что составляет 39.80% от всех товаров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АВС2_price+delivery(</a:t>
            </a:r>
            <a:r>
              <a:rPr lang="ru-RU"/>
              <a:t>11940 видов, что составляет 36.24% от всех товаров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и АВС2_delivery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ru-RU"/>
              <a:t>9034 видов, что составляет 27.42% от всех товаров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ru-RU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Рекомендовано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не закупайте много этих товаров; продавайте их со скидкой, чтобы избавиться от остатков; подумайте о том, чтобы убрать их из ассортимента т.к они не приносят прибыли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Выручка АВС2_price+delivery составила </a:t>
            </a:r>
            <a:r>
              <a:rPr lang="ru-RU"/>
              <a:t>15843553.24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 ,а АВС2_price - </a:t>
            </a:r>
            <a:r>
              <a:rPr lang="ru-RU"/>
              <a:t>13591643.70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$, разница между выручками составляет - </a:t>
            </a:r>
            <a:r>
              <a:rPr lang="ru-RU"/>
              <a:t>2251909.54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$, что как раз является отдельной выручкой за доставку АВС2_delivery. Разницы в доходе по категориям и отдельным видам товаров не обнаружено. 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Так же можно предположить, что некоторые виды часто приобретаемых товаров имеют достаточно высокую цену за доставку и составляют выручку  отдельно по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АВС2_delivery,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т.к только у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АВС2_delivery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количество товаров категории С меньше всего.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4648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</a:pPr>
            <a:r>
              <a:rPr b="1" lang="ru-RU"/>
              <a:t>АВС3_price (уникальный ID покупателя+цена)</a:t>
            </a:r>
            <a:endParaRPr/>
          </a:p>
        </p:txBody>
      </p:sp>
      <p:sp>
        <p:nvSpPr>
          <p:cNvPr id="166" name="Google Shape;166;p14"/>
          <p:cNvSpPr txBox="1"/>
          <p:nvPr>
            <p:ph idx="1" type="body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Суммарная выручка: 13591643.70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Покупатели, попавшие в категорию A: Количество наименований покупателей, попавших в категорию A: 42830 Покупатели категории A занимают 44.89% от всех покупателей, и приносят около 80.00% прибыли 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Покупатели, попавшие в категорию B: Количество наименований покупателей, попавших в категорию B: 29061 Покупатели категории B занимают 30.46% от всех покупателей, и приносят около 15.00% прибыли 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Покупатели, попавшие в категорию C: Количество наименований покупателей, попавших в категорию C: 23529 Покупатели категории C занимают 24.66% от всех покупателей, и приносят около 5.00% прибыли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orbel"/>
              <a:buNone/>
            </a:pPr>
            <a:r>
              <a:rPr b="1" lang="ru-RU"/>
              <a:t>АВС3_payment_value(уникальный ID покупателя+цена(с учетом рассрочки)+доставка)</a:t>
            </a:r>
            <a:endParaRPr/>
          </a:p>
        </p:txBody>
      </p:sp>
      <p:sp>
        <p:nvSpPr>
          <p:cNvPr id="172" name="Google Shape;172;p15"/>
          <p:cNvSpPr txBox="1"/>
          <p:nvPr>
            <p:ph idx="1" type="body"/>
          </p:nvPr>
        </p:nvSpPr>
        <p:spPr>
          <a:xfrm>
            <a:off x="1143000" y="2279073"/>
            <a:ext cx="9872871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Суммарная выручка: 16008872.12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Покупатели, попавшие в категорию A: Количество наименований покупателей, попавших в категорию A: 46765 Покупатели категории A занимают 48.67% от всех покупателей, и приносят около 80.00% прибыли 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Покупатели, попавшие в категорию B: Количество наименований покупателей, попавших в категорию B: 29457 Покупатели категории B занимают 30.65% от всех покупателей, и приносят около 15.00% прибыли 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Покупатели, попавшие в категорию C: Количество наименований покупателей, попавших в категорию C: 19873 Покупатели категории C занимают 20.68% от всех покупателей, и приносят около 5.00% прибыли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</a:pPr>
            <a:r>
              <a:rPr b="1" lang="ru-RU"/>
              <a:t>АВС3_delivery (уникальный ID покупателя+доставка)</a:t>
            </a:r>
            <a:endParaRPr/>
          </a:p>
        </p:txBody>
      </p:sp>
      <p:sp>
        <p:nvSpPr>
          <p:cNvPr id="178" name="Google Shape;178;p16"/>
          <p:cNvSpPr txBox="1"/>
          <p:nvPr>
            <p:ph idx="1" type="body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Суммарная выручка: 2251909.54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Покупатели, попавшие в категорию A: Количество наименований покупателей, попавших в категорию A: 58252 Покупатели категории A занимают 60.62% от всех покупателей, и приносят около 80.00% прибыли 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Покупатели, попавшие в категорию B: Количество наименований покупателей, попавших в категорию B: 24158 Покупатели категории B занимают 25.14% от всех покупателей, и приносят около 15.00% прибыли 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Покупатели, попавшие в категорию C: Количество наименований покупателей, попавших в категорию C: 13686 Покупатели категории C занимают 14.24% от всех покупателей, и приносят около 5.00% прибыли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/>
          <p:cNvSpPr txBox="1"/>
          <p:nvPr>
            <p:ph type="title"/>
          </p:nvPr>
        </p:nvSpPr>
        <p:spPr>
          <a:xfrm>
            <a:off x="1143000" y="-92364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</a:pPr>
            <a:r>
              <a:rPr lang="ru-RU"/>
              <a:t>Выводы по уникальному ID покупателя:</a:t>
            </a:r>
            <a:endParaRPr/>
          </a:p>
        </p:txBody>
      </p:sp>
      <p:sp>
        <p:nvSpPr>
          <p:cNvPr id="184" name="Google Shape;184;p17"/>
          <p:cNvSpPr txBox="1"/>
          <p:nvPr>
            <p:ph idx="1" type="body"/>
          </p:nvPr>
        </p:nvSpPr>
        <p:spPr>
          <a:xfrm>
            <a:off x="1143000" y="868218"/>
            <a:ext cx="9872871" cy="5726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0000"/>
              <a:buChar char="•"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При сравнении результатов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АВС3_price,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АВС3_</a:t>
            </a:r>
            <a:r>
              <a:rPr b="1" lang="ru-RU"/>
              <a:t>payment_value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и АВС3_delivery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мы видим, что нет отличий по процентной прибыли, но есть разница в количестве покупателей входящих в различные категории.  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Категория А приносит 80% прибыли </a:t>
            </a:r>
            <a:r>
              <a:rPr b="1" lang="ru-RU"/>
              <a:t>(Самые ценные клиенты)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АВС3_price (</a:t>
            </a:r>
            <a:r>
              <a:rPr lang="ru-RU"/>
              <a:t>42830 покупателей, что составляет 44.89%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АВС3_</a:t>
            </a:r>
            <a:r>
              <a:rPr b="1" lang="ru-RU"/>
              <a:t>payment_value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ru-RU"/>
              <a:t>46765  покупателей, что составляет 48.67%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и АВС3_delivery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ru-RU"/>
              <a:t>58252 покупателей, что составляет 60.62%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ru-RU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Рекомендации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ru-RU"/>
              <a:t>Персональный подход; премиум-обслуживание; эксклюзивные предложения: ранний доступ к новым продуктам, специальные скидки; приглашения на закрытые мероприятия; регулярные звонки, личные сообщения, поздравления с праздниками; ускоренная доставка, расширенные условия оплаты; сбор обратной .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Категория В приносит 15% прибыли </a:t>
            </a:r>
            <a:r>
              <a:rPr b="1" lang="ru-RU"/>
              <a:t>(Важные клиенты)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АВС3_price (</a:t>
            </a:r>
            <a:r>
              <a:rPr lang="ru-RU"/>
              <a:t>29061 покупателей, что составляет 30.46%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АВС3_</a:t>
            </a:r>
            <a:r>
              <a:rPr b="1" lang="ru-RU"/>
              <a:t>payment_value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ru-RU"/>
              <a:t>29457  покупателей, что составляет 30.65%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и АВС3_delivery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ru-RU"/>
              <a:t>24158покапателей, что составляет 25.14%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ru-RU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Рекомендации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ru-RU"/>
              <a:t>Целенаправленные маркетинговые кампании: рассылки, акции, скидки, основанные на предпочтениях клиента; улучшение сервиса, удобные способы оплаты, быстрая доставка; анализ причин снижения активности и устранение проблем; поощрение за достижение определенных объемов покупок; информационные рассылки, предложения, соответствующие интересам клиента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Категория С приносит 5% прибыли (</a:t>
            </a:r>
            <a:r>
              <a:rPr b="1" lang="ru-RU"/>
              <a:t>Перспективные/Менее важные клиенты)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АВС3_price (</a:t>
            </a:r>
            <a:r>
              <a:rPr lang="ru-RU"/>
              <a:t>23529  покупателей , что составляет 24.66%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АВС3_</a:t>
            </a:r>
            <a:r>
              <a:rPr b="1" lang="ru-RU"/>
              <a:t>payment_value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ru-RU"/>
              <a:t>19873 покупателей, что составляет 20.68%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и АВС3_delivery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ru-RU"/>
              <a:t>13686 покупателей, что составляет 14.24%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ru-RU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Рекомендовано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ru-RU"/>
              <a:t>Массовые маркетинговые кампании: рассылки, акции, ориентированные на широкий круг клиентов; предложения со скидками и акциями для стимулирования покупок; оптимизация работы с клиентами, чтобы повысить лояльность; группировка клиентов по интересам для более точного таргета; изучение причин низкой активности и предложение соответствующих решений; автоматизация коммуникаций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Выручка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АВС3_</a:t>
            </a:r>
            <a:r>
              <a:rPr b="1" lang="ru-RU"/>
              <a:t>payment_value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составила </a:t>
            </a:r>
            <a:r>
              <a:rPr lang="ru-RU"/>
              <a:t>16008872.12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 ,а АВС3_price - </a:t>
            </a:r>
            <a:r>
              <a:rPr lang="ru-RU"/>
              <a:t>13591643.70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$, разница между выручками составляет - </a:t>
            </a:r>
            <a:r>
              <a:rPr lang="ru-RU"/>
              <a:t>2417228.42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$, у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АВС3_delivery выручка - </a:t>
            </a:r>
            <a:r>
              <a:rPr lang="ru-RU"/>
              <a:t>2251909.54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 Получается что (цена+доставка) – цена != доставка. Разница между реальной выручкой доставки (</a:t>
            </a:r>
            <a:r>
              <a:rPr lang="ru-RU"/>
              <a:t>2251909.54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и предсказанной (</a:t>
            </a:r>
            <a:r>
              <a:rPr lang="ru-RU"/>
              <a:t>2417228.42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составляет - </a:t>
            </a:r>
            <a:r>
              <a:rPr b="1" lang="ru-RU"/>
              <a:t>165318,88</a:t>
            </a:r>
            <a:r>
              <a:rPr lang="ru-RU"/>
              <a:t>. </a:t>
            </a:r>
            <a:r>
              <a:rPr b="1" lang="ru-RU" u="sng"/>
              <a:t>Предположительно</a:t>
            </a:r>
            <a:r>
              <a:rPr lang="ru-RU"/>
              <a:t> выручка </a:t>
            </a:r>
            <a:r>
              <a:rPr b="1" lang="ru-RU"/>
              <a:t>payment_value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формируется не только за счет единичной оплаты, но и включает рассрочку для некоторых клиентов, возможно эта дополнительная сумма является процентами по рассрочке или процентами за задержку выплаты рассрочки.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Так же можно предположить, что некоторое количество покупателей тратит на доставку товара значительную сумму что составляет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АВС3_delivery,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т.к только у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АВС3_delivery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количество товаров категории С меньше всего.  </a:t>
            </a:r>
            <a:r>
              <a:rPr b="1" lang="ru-RU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 связи с этим можно сделать предположение: клиенты могут уходить чаще в связи с тем, что сумма доставка товаров выше, и она обходится покупателям очень дорого.</a:t>
            </a:r>
            <a:endParaRPr b="1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</a:pPr>
            <a:r>
              <a:rPr b="1" lang="ru-RU"/>
              <a:t>АВС4_price (штат продавца +цена)</a:t>
            </a:r>
            <a:endParaRPr/>
          </a:p>
        </p:txBody>
      </p:sp>
      <p:sp>
        <p:nvSpPr>
          <p:cNvPr id="190" name="Google Shape;190;p18"/>
          <p:cNvSpPr txBox="1"/>
          <p:nvPr>
            <p:ph idx="1" type="body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Суммарная выручка: 13591643.70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Количество наименований штатов продавцов, попавших в категорию A: 2.Штаты продавцов категории A занимают 8.70% от всех штатов продавцов, и приносят около 73.69% прибыли 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Штаты продавцов, попавшие в категорию B: Количество наименований штатов продавцов, попавших в категорию B: 4. Штаты продавцов категории B занимают 17.39% от всех штатов продавцов, и приносят около 21.09% прибыли 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Штаты продавцов, попавшие в категорию C: Количество наименований штатов продавцов, попавших в категорию C: 17. Штаты продавцов категории C занимают 73.91% от всех штатов продавцов, и приносят около 5.22% прибыли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"/>
          <p:cNvSpPr txBox="1"/>
          <p:nvPr>
            <p:ph idx="1" type="body"/>
          </p:nvPr>
        </p:nvSpPr>
        <p:spPr>
          <a:xfrm>
            <a:off x="292500" y="267854"/>
            <a:ext cx="3041827" cy="6276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SP:</a:t>
            </a:r>
            <a:r>
              <a:rPr lang="ru-RU"/>
              <a:t> São Paulo (Сан-Паулу)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PR:</a:t>
            </a:r>
            <a:r>
              <a:rPr lang="ru-RU"/>
              <a:t> Paraná (Парана)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MG:</a:t>
            </a:r>
            <a:r>
              <a:rPr lang="ru-RU"/>
              <a:t> Minas Gerais (Минас-Жерайс)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RJ:</a:t>
            </a:r>
            <a:r>
              <a:rPr lang="ru-RU"/>
              <a:t> Рио-де-Жанейро (Рио-де-Жанейро)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RS:</a:t>
            </a:r>
            <a:r>
              <a:rPr lang="ru-RU"/>
              <a:t> Риу-Гранди-ду-Сул (Риу-Гранди-ду-Сул)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SC:</a:t>
            </a:r>
            <a:r>
              <a:rPr lang="ru-RU"/>
              <a:t> Santa Catarina (Санта-Катарина)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BA:</a:t>
            </a:r>
            <a:r>
              <a:rPr lang="ru-RU"/>
              <a:t> Bahia (Баия)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DF:</a:t>
            </a:r>
            <a:r>
              <a:rPr lang="ru-RU"/>
              <a:t> Distrito Federal (Федеральный округ)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PE:</a:t>
            </a:r>
            <a:r>
              <a:rPr lang="ru-RU"/>
              <a:t> Pernambuco (Пернамбуку)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GO:</a:t>
            </a:r>
            <a:r>
              <a:rPr lang="ru-RU"/>
              <a:t> Goiás (Гояс)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ES:</a:t>
            </a:r>
            <a:r>
              <a:rPr lang="ru-RU"/>
              <a:t> Эспириту-Санту (Святой Дух)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MA:</a:t>
            </a:r>
            <a:r>
              <a:rPr lang="ru-RU"/>
              <a:t> Maranhão (Мараньян)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CE:</a:t>
            </a:r>
            <a:r>
              <a:rPr lang="ru-RU"/>
              <a:t> Ceará (Сеара)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MT:</a:t>
            </a:r>
            <a:r>
              <a:rPr lang="ru-RU"/>
              <a:t> Mato Grosso (Мату-Гросу)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PB:</a:t>
            </a:r>
            <a:r>
              <a:rPr lang="ru-RU"/>
              <a:t> Paraíba (Параиба)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RN:</a:t>
            </a:r>
            <a:r>
              <a:rPr lang="ru-RU"/>
              <a:t> Риу-Гранди-ду-Норти (Риу-Гранди-ду-Норти)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Штат:</a:t>
            </a:r>
            <a:r>
              <a:rPr lang="ru-RU"/>
              <a:t> Мату-Гросу-ду-Сул (Мату-Гросу-ду-Сул)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RO:</a:t>
            </a:r>
            <a:r>
              <a:rPr lang="ru-RU"/>
              <a:t> Rondônia (Рондония)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PI:</a:t>
            </a:r>
            <a:r>
              <a:rPr lang="ru-RU"/>
              <a:t> Piauí (Пиауи)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SE:</a:t>
            </a:r>
            <a:r>
              <a:rPr lang="ru-RU"/>
              <a:t> Sergipe (Сержипи)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PA:</a:t>
            </a:r>
            <a:r>
              <a:rPr lang="ru-RU"/>
              <a:t> Pará (Пара)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AM:</a:t>
            </a:r>
            <a:r>
              <a:rPr lang="ru-RU"/>
              <a:t> Amazonas (Амазонас)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AC:</a:t>
            </a:r>
            <a:r>
              <a:rPr lang="ru-RU"/>
              <a:t> Acre (Акри)</a:t>
            </a:r>
            <a:endParaRPr/>
          </a:p>
        </p:txBody>
      </p:sp>
      <p:pic>
        <p:nvPicPr>
          <p:cNvPr id="196" name="Google Shape;19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4327" y="267854"/>
            <a:ext cx="8628238" cy="627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</a:pPr>
            <a:r>
              <a:rPr b="1" lang="ru-RU"/>
              <a:t>АВС4_ price+delivery (штат продавца +цена+доставка)</a:t>
            </a:r>
            <a:endParaRPr/>
          </a:p>
        </p:txBody>
      </p:sp>
      <p:sp>
        <p:nvSpPr>
          <p:cNvPr id="202" name="Google Shape;202;p20"/>
          <p:cNvSpPr txBox="1"/>
          <p:nvPr>
            <p:ph idx="1" type="body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Суммарная выручка: 15843553.24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Штаты продавцов, попавшие в категорию A: Количество наименований штатов продавцов, попавших в категорию A: 2 .Штаты продавцов категории A занимают 8.70% от всех штатов продавцов, и приносят около 73.81% прибыли 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Штаты продавцов, попавшие в категорию B: Количество наименований штатов продавцов, попавших в категорию B: 4. Штаты продавцов категории B занимают 17.39% от всех штатов продавцов, и приносят около 21.06% прибыли 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Штаты продавцов, попавшие в категорию C: Количество наименований штатов продавцов, попавших в категорию C: 17 . Штаты продавцов категории C занимают 73.91% от всех штатов продавцов, и приносят около 5.13% прибыли</a:t>
            </a:r>
            <a:endParaRPr/>
          </a:p>
          <a:p>
            <a:pPr indent="-7112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2109" y="526472"/>
            <a:ext cx="8138711" cy="588356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>
            <p:ph idx="1" type="body"/>
          </p:nvPr>
        </p:nvSpPr>
        <p:spPr>
          <a:xfrm>
            <a:off x="440282" y="329766"/>
            <a:ext cx="3041827" cy="6276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SP:</a:t>
            </a:r>
            <a:r>
              <a:rPr lang="ru-RU"/>
              <a:t> São Paulo (Сан-Паулу)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PR:</a:t>
            </a:r>
            <a:r>
              <a:rPr lang="ru-RU"/>
              <a:t> Paraná (Парана)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MG:</a:t>
            </a:r>
            <a:r>
              <a:rPr lang="ru-RU"/>
              <a:t> Minas Gerais (Минас-Жерайс)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RJ:</a:t>
            </a:r>
            <a:r>
              <a:rPr lang="ru-RU"/>
              <a:t> Рио-де-Жанейро (Рио-де-Жанейро)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RS:</a:t>
            </a:r>
            <a:r>
              <a:rPr lang="ru-RU"/>
              <a:t> Риу-Гранди-ду-Сул (Риу-Гранди-ду-Сул)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SC:</a:t>
            </a:r>
            <a:r>
              <a:rPr lang="ru-RU"/>
              <a:t> Santa Catarina (Санта-Катарина)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BA:</a:t>
            </a:r>
            <a:r>
              <a:rPr lang="ru-RU"/>
              <a:t> Bahia (Баия)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DF:</a:t>
            </a:r>
            <a:r>
              <a:rPr lang="ru-RU"/>
              <a:t> Distrito Federal (Федеральный округ)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PE:</a:t>
            </a:r>
            <a:r>
              <a:rPr lang="ru-RU"/>
              <a:t> Pernambuco (Пернамбуку)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GO:</a:t>
            </a:r>
            <a:r>
              <a:rPr lang="ru-RU"/>
              <a:t> Goiás (Гояс)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ES:</a:t>
            </a:r>
            <a:r>
              <a:rPr lang="ru-RU"/>
              <a:t> Эспириту-Санту (Святой Дух)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MA:</a:t>
            </a:r>
            <a:r>
              <a:rPr lang="ru-RU"/>
              <a:t> Maranhão (Мараньян)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CE:</a:t>
            </a:r>
            <a:r>
              <a:rPr lang="ru-RU"/>
              <a:t> Ceará (Сеара)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MT:</a:t>
            </a:r>
            <a:r>
              <a:rPr lang="ru-RU"/>
              <a:t> Mato Grosso (Мату-Гросу)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PB:</a:t>
            </a:r>
            <a:r>
              <a:rPr lang="ru-RU"/>
              <a:t> Paraíba (Параиба)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RN:</a:t>
            </a:r>
            <a:r>
              <a:rPr lang="ru-RU"/>
              <a:t> Риу-Гранди-ду-Норти (Риу-Гранди-ду-Норти)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Штат:</a:t>
            </a:r>
            <a:r>
              <a:rPr lang="ru-RU"/>
              <a:t> Мату-Гросу-ду-Сул (Мату-Гросу-ду-Сул)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RO:</a:t>
            </a:r>
            <a:r>
              <a:rPr lang="ru-RU"/>
              <a:t> Rondônia (Рондония)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PI:</a:t>
            </a:r>
            <a:r>
              <a:rPr lang="ru-RU"/>
              <a:t> Piauí (Пиауи)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SE:</a:t>
            </a:r>
            <a:r>
              <a:rPr lang="ru-RU"/>
              <a:t> Sergipe (Сержипи)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PA:</a:t>
            </a:r>
            <a:r>
              <a:rPr lang="ru-RU"/>
              <a:t> Pará (Пара)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AM:</a:t>
            </a:r>
            <a:r>
              <a:rPr lang="ru-RU"/>
              <a:t> Amazonas (Амазонас)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AC:</a:t>
            </a:r>
            <a:r>
              <a:rPr lang="ru-RU"/>
              <a:t> Acre (Акри)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</a:pPr>
            <a:r>
              <a:rPr b="1" lang="ru-RU"/>
              <a:t>АВС4_delivery (штат продавца+доставка)</a:t>
            </a:r>
            <a:endParaRPr/>
          </a:p>
        </p:txBody>
      </p:sp>
      <p:sp>
        <p:nvSpPr>
          <p:cNvPr id="214" name="Google Shape;214;p22"/>
          <p:cNvSpPr txBox="1"/>
          <p:nvPr>
            <p:ph idx="1" type="body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0000"/>
              <a:buChar char="•"/>
            </a:pPr>
            <a:r>
              <a:rPr lang="ru-RU"/>
              <a:t>Суммарная выручка: 2251909.54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lang="ru-RU"/>
              <a:t>Штаты продавцов, попавшие в категорию A: Количество наименований штатов продавцов, попавших в категорию A: 2 . Штаты продавцов категории A занимают 8.70% от всех штатов продавцов, и приносят около 75.27% прибыли 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lang="ru-RU"/>
              <a:t>Штаты продавцов, попавшие в категорию B: Количество наименований штатов продавцов, попавших в категорию B: 3. Штаты продавцов категории B занимают 13.04% от всех штатов продавцов, и приносят около 17.65% прибыли 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lang="ru-RU"/>
              <a:t>Штаты продавцов, попавшие в категорию C: Количество наименований штатов продавцов, попавших в категорию C: 18 . Штаты продавцов категории C занимают 78.26% от всех штатов продавцов, и приносят около 7.08% прибыли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440282" y="329766"/>
            <a:ext cx="3041827" cy="6276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SP:</a:t>
            </a:r>
            <a:r>
              <a:rPr lang="ru-RU"/>
              <a:t> São Paulo (Сан-Паулу)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PR:</a:t>
            </a:r>
            <a:r>
              <a:rPr lang="ru-RU"/>
              <a:t> Paraná (Парана)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MG:</a:t>
            </a:r>
            <a:r>
              <a:rPr lang="ru-RU"/>
              <a:t> Minas Gerais (Минас-Жерайс)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RJ:</a:t>
            </a:r>
            <a:r>
              <a:rPr lang="ru-RU"/>
              <a:t> Рио-де-Жанейро (Рио-де-Жанейро)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RS:</a:t>
            </a:r>
            <a:r>
              <a:rPr lang="ru-RU"/>
              <a:t> Риу-Гранди-ду-Сул (Риу-Гранди-ду-Сул)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SC:</a:t>
            </a:r>
            <a:r>
              <a:rPr lang="ru-RU"/>
              <a:t> Santa Catarina (Санта-Катарина)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BA:</a:t>
            </a:r>
            <a:r>
              <a:rPr lang="ru-RU"/>
              <a:t> Bahia (Баия)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DF:</a:t>
            </a:r>
            <a:r>
              <a:rPr lang="ru-RU"/>
              <a:t> Distrito Federal (Федеральный округ)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PE:</a:t>
            </a:r>
            <a:r>
              <a:rPr lang="ru-RU"/>
              <a:t> Pernambuco (Пернамбуку)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GO:</a:t>
            </a:r>
            <a:r>
              <a:rPr lang="ru-RU"/>
              <a:t> Goiás (Гояс)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ES:</a:t>
            </a:r>
            <a:r>
              <a:rPr lang="ru-RU"/>
              <a:t> Эспириту-Санту (Святой Дух)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MA:</a:t>
            </a:r>
            <a:r>
              <a:rPr lang="ru-RU"/>
              <a:t> Maranhão (Мараньян)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CE:</a:t>
            </a:r>
            <a:r>
              <a:rPr lang="ru-RU"/>
              <a:t> Ceará (Сеара)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MT:</a:t>
            </a:r>
            <a:r>
              <a:rPr lang="ru-RU"/>
              <a:t> Mato Grosso (Мату-Гросу)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PB:</a:t>
            </a:r>
            <a:r>
              <a:rPr lang="ru-RU"/>
              <a:t> Paraíba (Параиба)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RN:</a:t>
            </a:r>
            <a:r>
              <a:rPr lang="ru-RU"/>
              <a:t> Риу-Гранди-ду-Норти (Риу-Гранди-ду-Норти)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Штат:</a:t>
            </a:r>
            <a:r>
              <a:rPr lang="ru-RU"/>
              <a:t> Мату-Гросу-ду-Сул (Мату-Гросу-ду-Сул)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RO:</a:t>
            </a:r>
            <a:r>
              <a:rPr lang="ru-RU"/>
              <a:t> Rondônia (Рондония)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PI:</a:t>
            </a:r>
            <a:r>
              <a:rPr lang="ru-RU"/>
              <a:t> Piauí (Пиауи)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SE:</a:t>
            </a:r>
            <a:r>
              <a:rPr lang="ru-RU"/>
              <a:t> Sergipe (Сержипи)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PA:</a:t>
            </a:r>
            <a:r>
              <a:rPr lang="ru-RU"/>
              <a:t> Pará (Пара)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AM:</a:t>
            </a:r>
            <a:r>
              <a:rPr lang="ru-RU"/>
              <a:t> Amazonas (Амазонас)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AC:</a:t>
            </a:r>
            <a:r>
              <a:rPr lang="ru-RU"/>
              <a:t> Acre (Акри)</a:t>
            </a:r>
            <a:endParaRPr/>
          </a:p>
        </p:txBody>
      </p:sp>
      <p:pic>
        <p:nvPicPr>
          <p:cNvPr id="220" name="Google Shape;22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4692" y="543140"/>
            <a:ext cx="7733056" cy="585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4"/>
          <p:cNvSpPr txBox="1"/>
          <p:nvPr>
            <p:ph type="title"/>
          </p:nvPr>
        </p:nvSpPr>
        <p:spPr>
          <a:xfrm>
            <a:off x="1143000" y="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</a:pPr>
            <a:r>
              <a:rPr lang="ru-RU"/>
              <a:t>Выводы по штатам продавцов:</a:t>
            </a:r>
            <a:endParaRPr/>
          </a:p>
        </p:txBody>
      </p:sp>
      <p:sp>
        <p:nvSpPr>
          <p:cNvPr id="226" name="Google Shape;226;p24"/>
          <p:cNvSpPr txBox="1"/>
          <p:nvPr>
            <p:ph idx="1" type="body"/>
          </p:nvPr>
        </p:nvSpPr>
        <p:spPr>
          <a:xfrm>
            <a:off x="820651" y="1089892"/>
            <a:ext cx="10520218" cy="51723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0000"/>
              <a:buChar char="•"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При сравнении результатов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АВС4_price,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АВС4_price+delivery 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мы видим, что нет отличий по процентной прибыли(разница очень незначительна), и нет разнице в штатах входящих в те или иные категории.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АВС4_delivery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отличается как по проценту выручки, так и по входящим в категории штатам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Категория А </a:t>
            </a:r>
            <a:r>
              <a:rPr b="1" lang="ru-RU"/>
              <a:t>(Самые эффективные штаты)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АВС4_price и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АВС4_price+delivery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  для каждого - 2 штата что составляет </a:t>
            </a:r>
            <a:r>
              <a:rPr lang="ru-RU"/>
              <a:t>8.70% от всех штатов продавцов, и приносят около 73% прибыли .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АВС4_delivery (</a:t>
            </a:r>
            <a:r>
              <a:rPr lang="ru-RU"/>
              <a:t>2 штата, что составляет 8.70% от всех штатов продавцов, и приносят около 75% прибыли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ru-RU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Рекомендации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в</a:t>
            </a:r>
            <a:r>
              <a:rPr lang="ru-RU"/>
              <a:t>ыделение дополнительных ресурсов: Более опытные менеджеры, большие бюджеты на маркетинг; внедрение лучших методов продаж, используемых в этих штатах; более активные маркетинговые кампании, направленные на увеличение продаж; обучение и развитие персонала; анализ и выявление лучших практик и дальнейшее масштабирование.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Категория В </a:t>
            </a:r>
            <a:r>
              <a:rPr b="1" lang="ru-RU"/>
              <a:t>(Важные штаты)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АВС4_price и АВС4_price+delivery (</a:t>
            </a:r>
            <a:r>
              <a:rPr lang="ru-RU"/>
              <a:t>для каждого – 4 штата, что составляет  17.39% от всех штатов продавцов, и приносят около 21% прибыли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АВС4_delivery (</a:t>
            </a:r>
            <a:r>
              <a:rPr lang="ru-RU"/>
              <a:t>3 штата, что 13.04% от всех штатов продавцов, и приносят около 17.65% прибыли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ru-RU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Рекомендации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ru-RU"/>
              <a:t>Целенаправленные программы развития: обучение, наставничество, обмен опытом с лучшими штатами; предоставление дополнительных ресурсов и инструментов.; анализ причин низкой эффективности: выявление проблем и поиск решений ; стимулирование роста: Введение KPI, направленных на увеличение продаж; поощрение за достижение определенных целей.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Категория С (</a:t>
            </a:r>
            <a:r>
              <a:rPr b="1" lang="ru-RU"/>
              <a:t>Перспективные/Менее важные штаты)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АВС4_price и АВС4_price+delivery ( для каждого – 17 штатов, что составляет </a:t>
            </a:r>
            <a:r>
              <a:rPr lang="ru-RU"/>
              <a:t>73.91% от всех штатов продавцов, и приносят около 5% прибыли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АВС4_delivery (</a:t>
            </a:r>
            <a:r>
              <a:rPr lang="ru-RU"/>
              <a:t>18 штатов, что составляет 78.26% от всех штатов продавцов, и приносят около 7.08% прибыли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ru-RU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Рекомендовано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ru-RU"/>
              <a:t>Повышение квалификации: Обучение, стажировки; поиск новых возможностей: Анализ рынка, поиск новых клиентов; тестирование новых подходов: Проведение пилотных проектов для оценки эффективности; предоставление минимальной поддержки: Основные ресурсы и инструменты для работы; контроль и мониторинг показателей, чтобы выявить потенциал для роста; внедрение стандартных процессов продаж и маркетинга.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Выручка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АВС4_price+delivery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составила </a:t>
            </a:r>
            <a:r>
              <a:rPr lang="ru-RU"/>
              <a:t>15843553.24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 ,а АВС4_price - </a:t>
            </a:r>
            <a:r>
              <a:rPr lang="ru-RU"/>
              <a:t>13591643.70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$, разница между выручками составляет - </a:t>
            </a:r>
            <a:r>
              <a:rPr b="1" lang="ru-RU"/>
              <a:t>2251909,54</a:t>
            </a:r>
            <a:r>
              <a:rPr lang="ru-RU"/>
              <a:t>.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$, - что  составляет доставка -</a:t>
            </a:r>
            <a:r>
              <a:rPr lang="ru-RU"/>
              <a:t>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АВС4_delive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Лидирующими штатами по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АВС4_price и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АВС4_price+delivery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является - </a:t>
            </a:r>
            <a:r>
              <a:rPr b="1" lang="ru-RU"/>
              <a:t>SP:</a:t>
            </a:r>
            <a:r>
              <a:rPr lang="ru-RU"/>
              <a:t> São Paulo (Сан-Паулу) и </a:t>
            </a:r>
            <a:r>
              <a:rPr b="1" lang="ru-RU"/>
              <a:t>PR:</a:t>
            </a:r>
            <a:r>
              <a:rPr lang="ru-RU"/>
              <a:t> Paraná (Парана), а по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АВС4_delivery  - </a:t>
            </a:r>
            <a:r>
              <a:rPr b="1" lang="ru-RU"/>
              <a:t>SP:</a:t>
            </a:r>
            <a:r>
              <a:rPr lang="ru-RU"/>
              <a:t> São Paulo (Сан-Паулу)  и </a:t>
            </a:r>
            <a:r>
              <a:rPr b="1" lang="ru-RU"/>
              <a:t>MG:</a:t>
            </a:r>
            <a:r>
              <a:rPr lang="ru-RU"/>
              <a:t> Minas Gerais (Минас-Жерайс)</a:t>
            </a:r>
            <a:endParaRPr/>
          </a:p>
          <a:p>
            <a:pPr indent="-104648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5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</a:pPr>
            <a:r>
              <a:rPr b="1" lang="ru-RU"/>
              <a:t>АВС5_price (штат покупателя+цена)</a:t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0000"/>
              <a:buChar char="•"/>
            </a:pPr>
            <a:r>
              <a:rPr lang="ru-RU"/>
              <a:t>Суммарная выручка: 13591643.70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lang="ru-RU"/>
              <a:t>Штаты покупателей, попавшие в категорию A: Количество наименований штатов покупателей, попавших в категорию A: 6 . Штаты покупателей категории A занимают 22.22% от всех штатов покупателей, и приносят около 77.74% прибыли 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lang="ru-RU"/>
              <a:t>Штаты покупателей, попавшие в категорию B: Количество наименований штатов покупателей, попавших в категорию B: 9. Штаты покупателей категории B занимают 33.33% от всех штатов покупателей, и приносят около 17.13% прибыли 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lang="ru-RU"/>
              <a:t>Штаты покупателей, попавшие в категорию C: Количество наименований штатов покупателей, попавших в категорию C: 12 . Штаты покупателей категории C занимают 44.44% от всех штатов покупателей, и приносят около 5.13% прибыли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9964" y="258618"/>
            <a:ext cx="8090619" cy="603682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6"/>
          <p:cNvSpPr txBox="1"/>
          <p:nvPr>
            <p:ph idx="1" type="body"/>
          </p:nvPr>
        </p:nvSpPr>
        <p:spPr>
          <a:xfrm>
            <a:off x="634245" y="258618"/>
            <a:ext cx="3041827" cy="6276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SP:</a:t>
            </a:r>
            <a:r>
              <a:rPr lang="ru-RU"/>
              <a:t> São Paulo (Сан-Паулу)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PR:</a:t>
            </a:r>
            <a:r>
              <a:rPr lang="ru-RU"/>
              <a:t> Paraná (Парана)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MG:</a:t>
            </a:r>
            <a:r>
              <a:rPr lang="ru-RU"/>
              <a:t> Minas Gerais (Минас-Жерайс)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RJ:</a:t>
            </a:r>
            <a:r>
              <a:rPr lang="ru-RU"/>
              <a:t> Рио-де-Жанейро (Рио-де-Жанейро)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RS:</a:t>
            </a:r>
            <a:r>
              <a:rPr lang="ru-RU"/>
              <a:t> Риу-Гранди-ду-Сул (Риу-Гранди-ду-Сул)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SC:</a:t>
            </a:r>
            <a:r>
              <a:rPr lang="ru-RU"/>
              <a:t> Santa Catarina (Санта-Катарина)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BA:</a:t>
            </a:r>
            <a:r>
              <a:rPr lang="ru-RU"/>
              <a:t> Bahia (Баия)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DF:</a:t>
            </a:r>
            <a:r>
              <a:rPr lang="ru-RU"/>
              <a:t> Distrito Federal (Федеральный округ)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PE:</a:t>
            </a:r>
            <a:r>
              <a:rPr lang="ru-RU"/>
              <a:t> Pernambuco (Пернамбуку)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GO:</a:t>
            </a:r>
            <a:r>
              <a:rPr lang="ru-RU"/>
              <a:t> Goiás (Гояс)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ES:</a:t>
            </a:r>
            <a:r>
              <a:rPr lang="ru-RU"/>
              <a:t> Эспириту-Санту (Святой Дух)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MA:</a:t>
            </a:r>
            <a:r>
              <a:rPr lang="ru-RU"/>
              <a:t> Maranhão (Мараньян)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CE:</a:t>
            </a:r>
            <a:r>
              <a:rPr lang="ru-RU"/>
              <a:t> Ceará (Сеара)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MT:</a:t>
            </a:r>
            <a:r>
              <a:rPr lang="ru-RU"/>
              <a:t> Mato Grosso (Мату-Гросу)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PB:</a:t>
            </a:r>
            <a:r>
              <a:rPr lang="ru-RU"/>
              <a:t> Paraíba (Параиба)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RN:</a:t>
            </a:r>
            <a:r>
              <a:rPr lang="ru-RU"/>
              <a:t> Риу-Гранди-ду-Норти (Риу-Гранди-ду-Норти)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Штат:</a:t>
            </a:r>
            <a:r>
              <a:rPr lang="ru-RU"/>
              <a:t> Мату-Гросу-ду-Сул (Мату-Гросу-ду-Сул)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RO:</a:t>
            </a:r>
            <a:r>
              <a:rPr lang="ru-RU"/>
              <a:t> Rondônia (Рондония)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PI:</a:t>
            </a:r>
            <a:r>
              <a:rPr lang="ru-RU"/>
              <a:t> Piauí (Пиауи)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SE:</a:t>
            </a:r>
            <a:r>
              <a:rPr lang="ru-RU"/>
              <a:t> Sergipe (Сержипи)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PA:</a:t>
            </a:r>
            <a:r>
              <a:rPr lang="ru-RU"/>
              <a:t> Pará (Пара)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AM:</a:t>
            </a:r>
            <a:r>
              <a:rPr lang="ru-RU"/>
              <a:t> Amazonas (Амазонас)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AC:</a:t>
            </a:r>
            <a:r>
              <a:rPr lang="ru-RU"/>
              <a:t> Acre (Акри)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7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</a:pPr>
            <a:r>
              <a:rPr b="1" lang="ru-RU"/>
              <a:t>АВС5_payment_value (штат покупателя+цена+доставка)</a:t>
            </a:r>
            <a:endParaRPr/>
          </a:p>
        </p:txBody>
      </p:sp>
      <p:sp>
        <p:nvSpPr>
          <p:cNvPr id="244" name="Google Shape;244;p27"/>
          <p:cNvSpPr txBox="1"/>
          <p:nvPr>
            <p:ph idx="1" type="body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Ошибка 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Суммарная выручка: 13591643.70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8"/>
          <p:cNvSpPr txBox="1"/>
          <p:nvPr>
            <p:ph idx="1" type="body"/>
          </p:nvPr>
        </p:nvSpPr>
        <p:spPr>
          <a:xfrm>
            <a:off x="440282" y="274348"/>
            <a:ext cx="3041827" cy="6276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SP:</a:t>
            </a:r>
            <a:r>
              <a:rPr lang="ru-RU"/>
              <a:t> São Paulo (Сан-Паулу)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PR:</a:t>
            </a:r>
            <a:r>
              <a:rPr lang="ru-RU"/>
              <a:t> Paraná (Парана)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MG:</a:t>
            </a:r>
            <a:r>
              <a:rPr lang="ru-RU"/>
              <a:t> Minas Gerais (Минас-Жерайс)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RJ:</a:t>
            </a:r>
            <a:r>
              <a:rPr lang="ru-RU"/>
              <a:t> Рио-де-Жанейро (Рио-де-Жанейро)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RS:</a:t>
            </a:r>
            <a:r>
              <a:rPr lang="ru-RU"/>
              <a:t> Риу-Гранди-ду-Сул (Риу-Гранди-ду-Сул)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SC:</a:t>
            </a:r>
            <a:r>
              <a:rPr lang="ru-RU"/>
              <a:t> Santa Catarina (Санта-Катарина)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BA:</a:t>
            </a:r>
            <a:r>
              <a:rPr lang="ru-RU"/>
              <a:t> Bahia (Баия)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DF:</a:t>
            </a:r>
            <a:r>
              <a:rPr lang="ru-RU"/>
              <a:t> Distrito Federal (Федеральный округ)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PE:</a:t>
            </a:r>
            <a:r>
              <a:rPr lang="ru-RU"/>
              <a:t> Pernambuco (Пернамбуку)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GO:</a:t>
            </a:r>
            <a:r>
              <a:rPr lang="ru-RU"/>
              <a:t> Goiás (Гояс)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ES:</a:t>
            </a:r>
            <a:r>
              <a:rPr lang="ru-RU"/>
              <a:t> Эспириту-Санту (Святой Дух)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MA:</a:t>
            </a:r>
            <a:r>
              <a:rPr lang="ru-RU"/>
              <a:t> Maranhão (Мараньян)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CE:</a:t>
            </a:r>
            <a:r>
              <a:rPr lang="ru-RU"/>
              <a:t> Ceará (Сеара)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MT:</a:t>
            </a:r>
            <a:r>
              <a:rPr lang="ru-RU"/>
              <a:t> Mato Grosso (Мату-Гросу)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PB:</a:t>
            </a:r>
            <a:r>
              <a:rPr lang="ru-RU"/>
              <a:t> Paraíba (Параиба)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RN:</a:t>
            </a:r>
            <a:r>
              <a:rPr lang="ru-RU"/>
              <a:t> Риу-Гранди-ду-Норти (Риу-Гранди-ду-Норти)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Штат:</a:t>
            </a:r>
            <a:r>
              <a:rPr lang="ru-RU"/>
              <a:t> Мату-Гросу-ду-Сул (Мату-Гросу-ду-Сул)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RO:</a:t>
            </a:r>
            <a:r>
              <a:rPr lang="ru-RU"/>
              <a:t> Rondônia (Рондония)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PI:</a:t>
            </a:r>
            <a:r>
              <a:rPr lang="ru-RU"/>
              <a:t> Piauí (Пиауи)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SE:</a:t>
            </a:r>
            <a:r>
              <a:rPr lang="ru-RU"/>
              <a:t> Sergipe (Сержипи)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PA:</a:t>
            </a:r>
            <a:r>
              <a:rPr lang="ru-RU"/>
              <a:t> Pará (Пара)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AM:</a:t>
            </a:r>
            <a:r>
              <a:rPr lang="ru-RU"/>
              <a:t> Amazonas (Амазонас)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AC:</a:t>
            </a:r>
            <a:r>
              <a:rPr lang="ru-RU"/>
              <a:t> Acre (Акри)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</a:pPr>
            <a:r>
              <a:rPr b="1" lang="ru-RU"/>
              <a:t>АВС5_delivery(штат покупателя+доставка)</a:t>
            </a:r>
            <a:endParaRPr/>
          </a:p>
        </p:txBody>
      </p:sp>
      <p:sp>
        <p:nvSpPr>
          <p:cNvPr id="255" name="Google Shape;255;p29"/>
          <p:cNvSpPr txBox="1"/>
          <p:nvPr>
            <p:ph idx="1" type="body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0000"/>
              <a:buChar char="•"/>
            </a:pPr>
            <a:r>
              <a:rPr lang="ru-RU"/>
              <a:t>Суммарная выручка: 2251909.54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lang="ru-RU"/>
              <a:t>Штаты покупателей, попавшие в категорию A: Количество наименований штатов покупателей, попавших в категорию A: 8. Штаты покупателей категории A занимают 29.63% от всех штатов покупателей, и приносят около 79.83% прибыли 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lang="ru-RU"/>
              <a:t>Штаты покупателей, попавшие в категорию B: Количество наименований штатов покупателей, попавших в категорию B: 8. Штаты покупателей категории B занимают 29.63% от всех штатов покупателей, и приносят около 14.54% прибыли 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lang="ru-RU"/>
              <a:t>Штаты покупателей, попавшие в категорию C: Количество наименований штатов покупателей, попавших в категорию C: 11. Штаты покупателей категории C занимают 40.74% от всех штатов покупателей, и приносят около 5.62% прибыли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"/>
          <p:cNvSpPr txBox="1"/>
          <p:nvPr>
            <p:ph idx="1" type="body"/>
          </p:nvPr>
        </p:nvSpPr>
        <p:spPr>
          <a:xfrm>
            <a:off x="440282" y="274348"/>
            <a:ext cx="3041827" cy="6276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SP:</a:t>
            </a:r>
            <a:r>
              <a:rPr lang="ru-RU"/>
              <a:t> São Paulo (Сан-Паулу)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PR:</a:t>
            </a:r>
            <a:r>
              <a:rPr lang="ru-RU"/>
              <a:t> Paraná (Парана)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MG:</a:t>
            </a:r>
            <a:r>
              <a:rPr lang="ru-RU"/>
              <a:t> Minas Gerais (Минас-Жерайс)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RJ:</a:t>
            </a:r>
            <a:r>
              <a:rPr lang="ru-RU"/>
              <a:t> Рио-де-Жанейро (Рио-де-Жанейро)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RS:</a:t>
            </a:r>
            <a:r>
              <a:rPr lang="ru-RU"/>
              <a:t> Риу-Гранди-ду-Сул (Риу-Гранди-ду-Сул)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SC:</a:t>
            </a:r>
            <a:r>
              <a:rPr lang="ru-RU"/>
              <a:t> Santa Catarina (Санта-Катарина)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BA:</a:t>
            </a:r>
            <a:r>
              <a:rPr lang="ru-RU"/>
              <a:t> Bahia (Баия)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DF:</a:t>
            </a:r>
            <a:r>
              <a:rPr lang="ru-RU"/>
              <a:t> Distrito Federal (Федеральный округ)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PE:</a:t>
            </a:r>
            <a:r>
              <a:rPr lang="ru-RU"/>
              <a:t> Pernambuco (Пернамбуку)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GO:</a:t>
            </a:r>
            <a:r>
              <a:rPr lang="ru-RU"/>
              <a:t> Goiás (Гояс)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ES:</a:t>
            </a:r>
            <a:r>
              <a:rPr lang="ru-RU"/>
              <a:t> Эспириту-Санту (Святой Дух)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MA:</a:t>
            </a:r>
            <a:r>
              <a:rPr lang="ru-RU"/>
              <a:t> Maranhão (Мараньян)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CE:</a:t>
            </a:r>
            <a:r>
              <a:rPr lang="ru-RU"/>
              <a:t> Ceará (Сеара)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MT:</a:t>
            </a:r>
            <a:r>
              <a:rPr lang="ru-RU"/>
              <a:t> Mato Grosso (Мату-Гросу)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PB:</a:t>
            </a:r>
            <a:r>
              <a:rPr lang="ru-RU"/>
              <a:t> Paraíba (Параиба)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RN:</a:t>
            </a:r>
            <a:r>
              <a:rPr lang="ru-RU"/>
              <a:t> Риу-Гранди-ду-Норти (Риу-Гранди-ду-Норти)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Штат:</a:t>
            </a:r>
            <a:r>
              <a:rPr lang="ru-RU"/>
              <a:t> Мату-Гросу-ду-Сул (Мату-Гросу-ду-Сул)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RO:</a:t>
            </a:r>
            <a:r>
              <a:rPr lang="ru-RU"/>
              <a:t> Rondônia (Рондония)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PI:</a:t>
            </a:r>
            <a:r>
              <a:rPr lang="ru-RU"/>
              <a:t> Piauí (Пиауи)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SE:</a:t>
            </a:r>
            <a:r>
              <a:rPr lang="ru-RU"/>
              <a:t> Sergipe (Сержипи)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PA:</a:t>
            </a:r>
            <a:r>
              <a:rPr lang="ru-RU"/>
              <a:t> Pará (Пара)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AM:</a:t>
            </a:r>
            <a:r>
              <a:rPr lang="ru-RU"/>
              <a:t> Amazonas (Амазонас)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AC:</a:t>
            </a:r>
            <a:r>
              <a:rPr lang="ru-RU"/>
              <a:t> Acre (Акри)</a:t>
            </a:r>
            <a:endParaRPr/>
          </a:p>
        </p:txBody>
      </p:sp>
      <p:pic>
        <p:nvPicPr>
          <p:cNvPr id="261" name="Google Shape;26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5074" y="218698"/>
            <a:ext cx="7997471" cy="6388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"/>
          <p:cNvSpPr txBox="1"/>
          <p:nvPr>
            <p:ph type="title"/>
          </p:nvPr>
        </p:nvSpPr>
        <p:spPr>
          <a:xfrm>
            <a:off x="1235364" y="-83128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</a:pPr>
            <a:r>
              <a:rPr lang="ru-RU"/>
              <a:t>Выводы по штатам покупателей:</a:t>
            </a:r>
            <a:endParaRPr/>
          </a:p>
        </p:txBody>
      </p:sp>
      <p:sp>
        <p:nvSpPr>
          <p:cNvPr id="267" name="Google Shape;267;p31"/>
          <p:cNvSpPr txBox="1"/>
          <p:nvPr>
            <p:ph idx="1" type="body"/>
          </p:nvPr>
        </p:nvSpPr>
        <p:spPr>
          <a:xfrm>
            <a:off x="332509" y="803565"/>
            <a:ext cx="11619345" cy="57727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0000"/>
              <a:buChar char="•"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При сравнении результатов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АВС5_price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и 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АВС5_delivery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отличается как по проценту выручки, так и по входящим в категории штатам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Категория А </a:t>
            </a:r>
            <a:r>
              <a:rPr b="1" lang="ru-RU"/>
              <a:t>(Самые важные штаты)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АВС5_price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  6 штатов, что составляет </a:t>
            </a:r>
            <a:r>
              <a:rPr lang="ru-RU"/>
              <a:t>22.22% от всех штатов покупателей, и приносят около 77.74% прибыли ).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АВС5_delivery (</a:t>
            </a:r>
            <a:r>
              <a:rPr lang="ru-RU"/>
              <a:t>8 штатов, что составляет 29.63% от всех штатов покупателей, и приносят около 79.83% прибыли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ru-RU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Рекомендации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ru-RU"/>
              <a:t>Сохраняйте высокий уровень обслуживания клиентов из этих штатов.; Предлагайте им эксклюзивные акции и скидки.; Инвестируйте в поддержание и укрепление отношений с ключевыми клиентами; Анализируйте, какие маркетинговые каналы наиболее эффективны в этих штатах.; Направляйте больше ресурсов на эти каналы; Оптимизируйте логистические процессы, чтобы обеспечить быструю и надёжную доставку в эти штаты.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Категория В </a:t>
            </a:r>
            <a:r>
              <a:rPr b="1" lang="ru-RU"/>
              <a:t>(Важные штаты)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АВС5_price (</a:t>
            </a:r>
            <a:r>
              <a:rPr lang="ru-RU"/>
              <a:t>9 штатов, что составляет 33.33% от всех штатов покупателей, и приносят около 17.13% прибыли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АВС5_delivery (</a:t>
            </a:r>
            <a:r>
              <a:rPr lang="ru-RU"/>
              <a:t>8 штатов, что составляет 29.63% от всех штатов покупателей, и приносят около 14.54% прибыли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ru-RU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Рекомендации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ru-RU"/>
              <a:t>Разрабатывайте маркетинговые кампании, направленные на увеличение продаж в этих штатах.; Попытайтесь привлечь новых клиентов; Изучите факторы, препятствующие росту продаж в этих штатах; Разработайте план действий для улучшения ситуации.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Категория С (</a:t>
            </a:r>
            <a:r>
              <a:rPr b="1" lang="ru-RU"/>
              <a:t>Перспективные/Менее важные штаты)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АВС5_price ( 12 штатов, что составляет </a:t>
            </a:r>
            <a:r>
              <a:rPr lang="ru-RU"/>
              <a:t>44.44% от всех штатов покупателей, и приносят около 5.13% прибыли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АВС5_delivery (</a:t>
            </a:r>
            <a:r>
              <a:rPr lang="ru-RU"/>
              <a:t>11 штатов, что составляет 40.74% от всех штатов покупателей, и приносят около 5.62% прибыли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ru-RU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Рекомендовано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ru-RU"/>
              <a:t>Оптимизируйте маркетинговые и логистические затраты в этих штатах; Рассмотрите возможность сокращения инвестиций; Изучите причины низкой эффективности продаж в этих штатах; Рассмотрите возможность применения новых подходов или стратегий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Выручка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АВС5_price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составила </a:t>
            </a:r>
            <a:r>
              <a:rPr lang="ru-RU"/>
              <a:t>13591643.70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 ,а –</a:t>
            </a:r>
            <a:r>
              <a:rPr lang="ru-RU"/>
              <a:t>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АВС5_delive  </a:t>
            </a:r>
            <a:r>
              <a:rPr lang="ru-RU"/>
              <a:t>2251909.54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$, сумма этих выручек составляет - </a:t>
            </a:r>
            <a:r>
              <a:rPr b="1" lang="ru-RU"/>
              <a:t>15843553.24</a:t>
            </a:r>
            <a:r>
              <a:rPr lang="ru-RU"/>
              <a:t>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$, - что  предположительно составляет доставка –</a:t>
            </a:r>
            <a:r>
              <a:rPr lang="ru-RU"/>
              <a:t>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АВС5_delive+price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Лидирующими штатами по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АВС5_price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является - </a:t>
            </a:r>
            <a:r>
              <a:rPr b="1" lang="ru-RU"/>
              <a:t>SP:</a:t>
            </a:r>
            <a:r>
              <a:rPr lang="ru-RU"/>
              <a:t> São Paulo (Сан-Паулу), Рио-де-Жанейро (Рио-де-Жанейро), </a:t>
            </a:r>
            <a:r>
              <a:rPr b="1" lang="ru-RU"/>
              <a:t>MG:</a:t>
            </a:r>
            <a:r>
              <a:rPr lang="ru-RU"/>
              <a:t> Minas Gerais (Минас-Жерайс), Риу-Гранди-ду-Сул (Риу-Гранди-ду-Сул), </a:t>
            </a:r>
            <a:r>
              <a:rPr b="1" lang="ru-RU"/>
              <a:t>PR:</a:t>
            </a:r>
            <a:r>
              <a:rPr lang="ru-RU"/>
              <a:t> Paraná (Парана), Santa Catarina (Санта-Катарина) а по </a:t>
            </a:r>
            <a:r>
              <a:rPr b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АВС5_delivery  -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включает такие же штаты, но плюс еще 2 - </a:t>
            </a:r>
            <a:r>
              <a:rPr lang="ru-RU"/>
              <a:t> Bahia (Баия),  Pernambuco (Пернамбуку)</a:t>
            </a:r>
            <a:endParaRPr/>
          </a:p>
          <a:p>
            <a:pPr indent="-96266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"/>
          <p:cNvSpPr txBox="1"/>
          <p:nvPr>
            <p:ph type="title"/>
          </p:nvPr>
        </p:nvSpPr>
        <p:spPr>
          <a:xfrm>
            <a:off x="1216891" y="2586182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</a:pPr>
            <a:r>
              <a:rPr lang="ru-RU"/>
              <a:t>Анализ XYZ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orbel"/>
              <a:buNone/>
            </a:pPr>
            <a:r>
              <a:rPr b="1" lang="ru-RU"/>
              <a:t>XYZ_product_ID (идентификатор товара)</a:t>
            </a:r>
            <a:br>
              <a:rPr lang="ru-RU"/>
            </a:br>
            <a:endParaRPr/>
          </a:p>
        </p:txBody>
      </p:sp>
      <p:sp>
        <p:nvSpPr>
          <p:cNvPr id="278" name="Google Shape;278;p33"/>
          <p:cNvSpPr txBox="1"/>
          <p:nvPr>
            <p:ph idx="1" type="body"/>
          </p:nvPr>
        </p:nvSpPr>
        <p:spPr>
          <a:xfrm>
            <a:off x="1069109" y="1641763"/>
            <a:ext cx="3105727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Количество товаров в каждой категории: 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Z -  32174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 Y-  737 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X -  40</a:t>
            </a:r>
            <a:endParaRPr/>
          </a:p>
        </p:txBody>
      </p:sp>
      <p:pic>
        <p:nvPicPr>
          <p:cNvPr id="279" name="Google Shape;27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123" y="1467195"/>
            <a:ext cx="6370350" cy="4913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8760" y="481323"/>
            <a:ext cx="7416367" cy="5924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5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</a:pPr>
            <a:r>
              <a:rPr b="1" lang="ru-RU"/>
              <a:t>XYZ_product_category_name ( категория товара)</a:t>
            </a:r>
            <a:endParaRPr/>
          </a:p>
        </p:txBody>
      </p:sp>
      <p:sp>
        <p:nvSpPr>
          <p:cNvPr id="290" name="Google Shape;290;p35"/>
          <p:cNvSpPr txBox="1"/>
          <p:nvPr>
            <p:ph idx="1" type="body"/>
          </p:nvPr>
        </p:nvSpPr>
        <p:spPr>
          <a:xfrm>
            <a:off x="1143000" y="2057400"/>
            <a:ext cx="3355109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Количество товаров в каждой категории: 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X - 36 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Y - 21 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Z - 17</a:t>
            </a:r>
            <a:endParaRPr/>
          </a:p>
        </p:txBody>
      </p:sp>
      <p:pic>
        <p:nvPicPr>
          <p:cNvPr id="291" name="Google Shape;29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8638" y="1566908"/>
            <a:ext cx="5863071" cy="4698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4943" y="524374"/>
            <a:ext cx="7166984" cy="5724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7"/>
          <p:cNvSpPr txBox="1"/>
          <p:nvPr>
            <p:ph type="title"/>
          </p:nvPr>
        </p:nvSpPr>
        <p:spPr>
          <a:xfrm>
            <a:off x="803564" y="0"/>
            <a:ext cx="103073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</a:pPr>
            <a:r>
              <a:rPr lang="ru-RU"/>
              <a:t>Выводы XYZ по товарам(категории и ID):</a:t>
            </a:r>
            <a:endParaRPr/>
          </a:p>
        </p:txBody>
      </p:sp>
      <p:sp>
        <p:nvSpPr>
          <p:cNvPr id="302" name="Google Shape;302;p37"/>
          <p:cNvSpPr txBox="1"/>
          <p:nvPr>
            <p:ph idx="1" type="body"/>
          </p:nvPr>
        </p:nvSpPr>
        <p:spPr>
          <a:xfrm>
            <a:off x="492177" y="1071418"/>
            <a:ext cx="10618707" cy="52000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0000"/>
              <a:buChar char="•"/>
            </a:pPr>
            <a:r>
              <a:rPr lang="ru-RU"/>
              <a:t>1. Категория Х: в группу </a:t>
            </a:r>
            <a:r>
              <a:rPr i="1" lang="ru-RU"/>
              <a:t>стабильный</a:t>
            </a:r>
            <a:r>
              <a:rPr lang="ru-RU"/>
              <a:t> спрос входит 40 видов товаров и 36 категорий товаров, они составляют менее 10% от коэффициента вариации. Эти товары продаются регулярно, это визуально также можно отследить на графиках рассеивания(меньший разброс по коэффициенту вариации). </a:t>
            </a:r>
            <a:r>
              <a:rPr b="1" lang="ru-RU"/>
              <a:t>Рекомендовано: </a:t>
            </a:r>
            <a:r>
              <a:rPr lang="ru-RU"/>
              <a:t> Планируйте закупки этих товаров на основе среднего спроса; Используйте простые методы прогнозирования (например, скользящее среднее).; Старайтесь поддерживать минимальный страховой запас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br>
              <a:rPr lang="ru-RU"/>
            </a:br>
            <a:r>
              <a:rPr lang="ru-RU"/>
              <a:t>2. Категория Y: в группу </a:t>
            </a:r>
            <a:r>
              <a:rPr i="1" lang="ru-RU"/>
              <a:t>переменный</a:t>
            </a:r>
            <a:r>
              <a:rPr lang="ru-RU"/>
              <a:t> спрос входит 737 видов товаров и 21 категория товаров, они составляют от 10% до 25%  коэффициента вариации. Спрос на эти товары колеблется, но есть определенные закономерности (например, сезонность), это визуально также можно отследить на графиках рассеивания(средний разброс по коэффициенту вариации). </a:t>
            </a:r>
            <a:r>
              <a:rPr b="1" lang="ru-RU"/>
              <a:t>Рекомендовано: </a:t>
            </a:r>
            <a:r>
              <a:rPr lang="ru-RU"/>
              <a:t>Планируйте закупки этих товаров более внимательно, учитывая сезонность и другие факторы; Используйте более сложные методы прогнозирования (например, регрессионный анализ); Поддерживайте больший страховой запас.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br>
              <a:rPr lang="ru-RU"/>
            </a:br>
            <a:r>
              <a:rPr lang="ru-RU"/>
              <a:t>3. Категория Z: в группу </a:t>
            </a:r>
            <a:r>
              <a:rPr i="1" lang="ru-RU"/>
              <a:t>непредсказуемый</a:t>
            </a:r>
            <a:r>
              <a:rPr lang="ru-RU"/>
              <a:t> спрос входит 32174 видов товаров и 17 категорий товаров, они составляют более 25%  коэффициента вариации.  Эти товары покупают очень редко и нерегулярно, спрос на них совершенно непредсказуем. Визуально также можно отследить на графиках рассеивания(высокий разброс по коэффициенту вариации). </a:t>
            </a:r>
            <a:r>
              <a:rPr b="1" lang="ru-RU"/>
              <a:t>Рекомендовано: </a:t>
            </a:r>
            <a:r>
              <a:rPr lang="ru-RU"/>
              <a:t>Закупайте эти товары только под заказ или при наличии специальных предложений; Не держите их на складе в больших количествах; Используйте экспертные оценки и интуицию для планирования закупок.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lang="ru-RU"/>
              <a:t>Вывод: мы видим что большинство конкретных видов товаров не пользуются спросом, стоит сконцентрироваться на ведущих стабильных категориях и выявить какие товары имеют регулярный спрос, перевести интерес покупателей на них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8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</a:pPr>
            <a:r>
              <a:rPr b="1" lang="ru-RU"/>
              <a:t>XYZ_product_category_name (индивидуальный номер покупателя)</a:t>
            </a:r>
            <a:endParaRPr/>
          </a:p>
        </p:txBody>
      </p:sp>
      <p:sp>
        <p:nvSpPr>
          <p:cNvPr id="308" name="Google Shape;308;p38"/>
          <p:cNvSpPr txBox="1"/>
          <p:nvPr>
            <p:ph idx="1" type="body"/>
          </p:nvPr>
        </p:nvSpPr>
        <p:spPr>
          <a:xfrm>
            <a:off x="1143000" y="2057400"/>
            <a:ext cx="3262745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Количество покупателей в каждой категории: 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Z - 96082 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Y - 13 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ru-RU"/>
              <a:t>X  - 1</a:t>
            </a:r>
            <a:endParaRPr/>
          </a:p>
        </p:txBody>
      </p:sp>
      <p:pic>
        <p:nvPicPr>
          <p:cNvPr id="309" name="Google Shape;30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2822" y="2164773"/>
            <a:ext cx="5013189" cy="3823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4250" y="649910"/>
            <a:ext cx="7102331" cy="56732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0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</a:pPr>
            <a:r>
              <a:rPr lang="ru-RU"/>
              <a:t>Выводы XYZ по покупателям: </a:t>
            </a:r>
            <a:endParaRPr/>
          </a:p>
        </p:txBody>
      </p:sp>
      <p:sp>
        <p:nvSpPr>
          <p:cNvPr id="320" name="Google Shape;320;p40"/>
          <p:cNvSpPr txBox="1"/>
          <p:nvPr>
            <p:ph idx="1" type="body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0000"/>
              <a:buChar char="•"/>
            </a:pPr>
            <a:r>
              <a:rPr lang="ru-RU"/>
              <a:t>1. Категория Х </a:t>
            </a:r>
            <a:r>
              <a:rPr b="1" lang="ru-RU"/>
              <a:t>(Стабильные покупатели): Цель:</a:t>
            </a:r>
            <a:r>
              <a:rPr lang="ru-RU"/>
              <a:t> Удержание, лояльность, увеличение среднего чека. </a:t>
            </a:r>
            <a:r>
              <a:rPr b="1" lang="ru-RU"/>
              <a:t>Рекомендации:</a:t>
            </a:r>
            <a:r>
              <a:rPr lang="ru-RU"/>
              <a:t> Персональные предложения и скидки; Программы лояльности и премиум-обслуживание.; Анализ потребностей и предложение дополнительных товаров/услуг; Минимизация риска оттока.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br>
              <a:rPr lang="ru-RU"/>
            </a:br>
            <a:r>
              <a:rPr lang="ru-RU"/>
              <a:t>2. Категория Y </a:t>
            </a:r>
            <a:r>
              <a:rPr b="1" lang="ru-RU"/>
              <a:t>(Менее стабильные покупатели): Цель:</a:t>
            </a:r>
            <a:r>
              <a:rPr lang="ru-RU"/>
              <a:t> стабилизация спроса, увеличение частоты покупок, перевод в группу X. </a:t>
            </a:r>
            <a:r>
              <a:rPr b="1" lang="ru-RU"/>
              <a:t>Рекомендации:</a:t>
            </a:r>
            <a:r>
              <a:rPr lang="ru-RU"/>
              <a:t> Акции и специальные предложения для стимулирования покупок; Анализ причин колебаний спроса и разработка решений; Персонализация маркетинговых кампаний; Мониторинг и анализ активности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lang="ru-RU"/>
              <a:t>.</a:t>
            </a:r>
            <a:br>
              <a:rPr lang="ru-RU"/>
            </a:br>
            <a:r>
              <a:rPr lang="ru-RU"/>
              <a:t>3. Категория Z </a:t>
            </a:r>
            <a:r>
              <a:rPr b="1" lang="ru-RU"/>
              <a:t>(Нерегулярные покупатели): Цель:</a:t>
            </a:r>
            <a:r>
              <a:rPr lang="ru-RU"/>
              <a:t> выявление причин нерегулярности, повторное привлечение, увеличение частоты покупок. </a:t>
            </a:r>
            <a:r>
              <a:rPr b="1" lang="ru-RU"/>
              <a:t>Рекомендации:</a:t>
            </a:r>
            <a:r>
              <a:rPr lang="ru-RU"/>
              <a:t> Анализ причин низкой активности (например, неудовлетворённость продуктом/услугой, конкуренция); Маркетинговые кампании по возвращению клиентов; Предложения со скидками и акциями; Оценка возможности отказа от работы с некоторыми клиентами из группы Z, если их обслуживание нерентабельно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lang="ru-RU"/>
              <a:t>Очевидный вывод, практически все покупатели совершают свои покупки нерегулярно, причем большинство делало покупки в одни и те же месяца, но всего несколько раз. </a:t>
            </a:r>
            <a:endParaRPr/>
          </a:p>
          <a:p>
            <a:pPr indent="-96266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96266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1"/>
          <p:cNvSpPr txBox="1"/>
          <p:nvPr>
            <p:ph type="title"/>
          </p:nvPr>
        </p:nvSpPr>
        <p:spPr>
          <a:xfrm>
            <a:off x="195872" y="92363"/>
            <a:ext cx="1185949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</a:pPr>
            <a:r>
              <a:rPr b="1" lang="ru-RU"/>
              <a:t>ABC+XYZ1 (категория товаров+цена+доставка)</a:t>
            </a:r>
            <a:endParaRPr/>
          </a:p>
        </p:txBody>
      </p:sp>
      <p:pic>
        <p:nvPicPr>
          <p:cNvPr id="326" name="Google Shape;32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768" y="1294101"/>
            <a:ext cx="6134100" cy="52673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7" name="Google Shape;327;p41"/>
          <p:cNvGraphicFramePr/>
          <p:nvPr/>
        </p:nvGraphicFramePr>
        <p:xfrm>
          <a:off x="6823763" y="174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{05D54568-E285-4597-B2C9-7C5A621D90C4}</a:tableStyleId>
              </a:tblPr>
              <a:tblGrid>
                <a:gridCol w="268400"/>
                <a:gridCol w="1381450"/>
                <a:gridCol w="1448175"/>
                <a:gridCol w="1448175"/>
              </a:tblGrid>
              <a:tr h="4127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800" u="none" cap="none" strike="noStrike"/>
                        <a:t>№</a:t>
                      </a:r>
                      <a:endParaRPr b="0" sz="1800" u="none" cap="none" strike="noStrike"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u="none" cap="none" strike="noStrike"/>
                        <a:t>категория</a:t>
                      </a:r>
                      <a:endParaRPr sz="1800"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сумма</a:t>
                      </a:r>
                      <a:endParaRPr sz="1800"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Кол. товаров</a:t>
                      </a:r>
                      <a:endParaRPr sz="1800"/>
                    </a:p>
                  </a:txBody>
                  <a:tcPr marT="30475" marB="30475" marR="60950" marL="60950" anchor="ctr"/>
                </a:tc>
              </a:tr>
              <a:tr h="4127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1</a:t>
                      </a:r>
                      <a:endParaRPr b="0" sz="1800"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A_X</a:t>
                      </a:r>
                      <a:endParaRPr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$12360365.20</a:t>
                      </a:r>
                      <a:endParaRPr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16</a:t>
                      </a:r>
                      <a:endParaRPr sz="1800"/>
                    </a:p>
                  </a:txBody>
                  <a:tcPr marT="30475" marB="30475" marR="60950" marL="60950" anchor="ctr"/>
                </a:tc>
              </a:tr>
              <a:tr h="4127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2</a:t>
                      </a:r>
                      <a:endParaRPr b="0" sz="1800"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A_Y</a:t>
                      </a:r>
                      <a:endParaRPr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$277741.71</a:t>
                      </a:r>
                      <a:endParaRPr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1</a:t>
                      </a:r>
                      <a:endParaRPr sz="1800"/>
                    </a:p>
                  </a:txBody>
                  <a:tcPr marT="30475" marB="30475" marR="60950" marL="60950" anchor="ctr"/>
                </a:tc>
              </a:tr>
              <a:tr h="4127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3</a:t>
                      </a:r>
                      <a:endParaRPr b="0" sz="1800"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B_X</a:t>
                      </a:r>
                      <a:endParaRPr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$1499050.01</a:t>
                      </a:r>
                      <a:endParaRPr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10</a:t>
                      </a:r>
                      <a:endParaRPr sz="1800"/>
                    </a:p>
                  </a:txBody>
                  <a:tcPr marT="30475" marB="30475" marR="60950" marL="60950" anchor="ctr"/>
                </a:tc>
              </a:tr>
              <a:tr h="4127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4</a:t>
                      </a:r>
                      <a:endParaRPr b="0" sz="1800"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B_Y</a:t>
                      </a:r>
                      <a:endParaRPr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$642437.92</a:t>
                      </a:r>
                      <a:endParaRPr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5</a:t>
                      </a:r>
                      <a:endParaRPr sz="1800"/>
                    </a:p>
                  </a:txBody>
                  <a:tcPr marT="30475" marB="30475" marR="60950" marL="60950" anchor="ctr"/>
                </a:tc>
              </a:tr>
              <a:tr h="4127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5</a:t>
                      </a:r>
                      <a:endParaRPr b="0" sz="1800"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B_Z</a:t>
                      </a:r>
                      <a:endParaRPr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$232799.43</a:t>
                      </a:r>
                      <a:endParaRPr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1</a:t>
                      </a:r>
                      <a:endParaRPr sz="1800"/>
                    </a:p>
                  </a:txBody>
                  <a:tcPr marT="30475" marB="30475" marR="60950" marL="60950" anchor="ctr"/>
                </a:tc>
              </a:tr>
              <a:tr h="4127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6</a:t>
                      </a:r>
                      <a:endParaRPr b="0" sz="1800"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C_X</a:t>
                      </a:r>
                      <a:endParaRPr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$357963.85</a:t>
                      </a:r>
                      <a:endParaRPr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10</a:t>
                      </a:r>
                      <a:endParaRPr sz="1800"/>
                    </a:p>
                  </a:txBody>
                  <a:tcPr marT="30475" marB="30475" marR="60950" marL="60950" anchor="ctr"/>
                </a:tc>
              </a:tr>
              <a:tr h="4127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7</a:t>
                      </a:r>
                      <a:endParaRPr b="0" sz="1800"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C_Y</a:t>
                      </a:r>
                      <a:endParaRPr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$288368.94</a:t>
                      </a:r>
                      <a:endParaRPr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15</a:t>
                      </a:r>
                      <a:endParaRPr sz="1800"/>
                    </a:p>
                  </a:txBody>
                  <a:tcPr marT="30475" marB="30475" marR="60950" marL="60950" anchor="ctr"/>
                </a:tc>
              </a:tr>
              <a:tr h="4127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8</a:t>
                      </a:r>
                      <a:endParaRPr b="0" sz="1800"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C_Z</a:t>
                      </a:r>
                      <a:endParaRPr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$184826.18</a:t>
                      </a:r>
                      <a:endParaRPr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16</a:t>
                      </a:r>
                      <a:endParaRPr sz="1800"/>
                    </a:p>
                  </a:txBody>
                  <a:tcPr marT="30475" marB="30475" marR="60950" marL="60950" anchor="ctr"/>
                </a:tc>
              </a:tr>
            </a:tbl>
          </a:graphicData>
        </a:graphic>
      </p:graphicFrame>
      <p:sp>
        <p:nvSpPr>
          <p:cNvPr id="328" name="Google Shape;328;p41"/>
          <p:cNvSpPr txBox="1"/>
          <p:nvPr/>
        </p:nvSpPr>
        <p:spPr>
          <a:xfrm>
            <a:off x="7971153" y="1294101"/>
            <a:ext cx="33988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Доход по категориям</a:t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2"/>
          <p:cNvSpPr txBox="1"/>
          <p:nvPr>
            <p:ph type="title"/>
          </p:nvPr>
        </p:nvSpPr>
        <p:spPr>
          <a:xfrm>
            <a:off x="1216891" y="295563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orbel"/>
              <a:buNone/>
            </a:pPr>
            <a:r>
              <a:rPr b="1" lang="ru-RU"/>
              <a:t>ABC+XYZ2 (цена+доставка+идентификатор товара))</a:t>
            </a:r>
            <a:endParaRPr/>
          </a:p>
        </p:txBody>
      </p:sp>
      <p:pic>
        <p:nvPicPr>
          <p:cNvPr id="334" name="Google Shape;334;p4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874" y="1651923"/>
            <a:ext cx="5596945" cy="4619568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42"/>
          <p:cNvSpPr txBox="1"/>
          <p:nvPr/>
        </p:nvSpPr>
        <p:spPr>
          <a:xfrm>
            <a:off x="7980389" y="1625723"/>
            <a:ext cx="33988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Доход по категориям</a:t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aphicFrame>
        <p:nvGraphicFramePr>
          <p:cNvPr id="336" name="Google Shape;336;p42"/>
          <p:cNvGraphicFramePr/>
          <p:nvPr/>
        </p:nvGraphicFramePr>
        <p:xfrm>
          <a:off x="7044575" y="20886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{05D54568-E285-4597-B2C9-7C5A621D90C4}</a:tableStyleId>
              </a:tblPr>
              <a:tblGrid>
                <a:gridCol w="477725"/>
                <a:gridCol w="1318050"/>
                <a:gridCol w="1269425"/>
                <a:gridCol w="1269425"/>
              </a:tblGrid>
              <a:tr h="5001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800"/>
                        <a:t>№</a:t>
                      </a:r>
                      <a:endParaRPr b="0" sz="1800"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категория</a:t>
                      </a:r>
                      <a:endParaRPr sz="1800"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сумма</a:t>
                      </a:r>
                      <a:endParaRPr sz="1800"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Кол. товаров</a:t>
                      </a:r>
                      <a:endParaRPr sz="1800"/>
                    </a:p>
                  </a:txBody>
                  <a:tcPr marT="30475" marB="30475" marR="60950" marL="60950" anchor="ctr"/>
                </a:tc>
              </a:tr>
              <a:tr h="5001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1</a:t>
                      </a:r>
                      <a:endParaRPr b="0" sz="1800"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A_X</a:t>
                      </a:r>
                      <a:endParaRPr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$459920.88</a:t>
                      </a:r>
                      <a:endParaRPr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40</a:t>
                      </a:r>
                      <a:endParaRPr sz="1800"/>
                    </a:p>
                  </a:txBody>
                  <a:tcPr marT="30475" marB="30475" marR="60950" marL="60950" anchor="ctr"/>
                </a:tc>
              </a:tr>
              <a:tr h="5001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2</a:t>
                      </a:r>
                      <a:endParaRPr b="0" sz="1800"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A_Y</a:t>
                      </a:r>
                      <a:endParaRPr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$2523593.47</a:t>
                      </a:r>
                      <a:endParaRPr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708</a:t>
                      </a:r>
                      <a:endParaRPr sz="1800"/>
                    </a:p>
                  </a:txBody>
                  <a:tcPr marT="30475" marB="30475" marR="60950" marL="60950" anchor="ctr"/>
                </a:tc>
              </a:tr>
              <a:tr h="5001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3</a:t>
                      </a:r>
                      <a:endParaRPr b="0" sz="1800"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A_Z</a:t>
                      </a:r>
                      <a:endParaRPr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$9691184.12</a:t>
                      </a:r>
                      <a:endParaRPr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8504</a:t>
                      </a:r>
                      <a:endParaRPr sz="1800"/>
                    </a:p>
                  </a:txBody>
                  <a:tcPr marT="30475" marB="30475" marR="60950" marL="60950" anchor="ctr"/>
                </a:tc>
              </a:tr>
              <a:tr h="5001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4</a:t>
                      </a:r>
                      <a:endParaRPr b="0" sz="1800"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B_Y</a:t>
                      </a:r>
                      <a:endParaRPr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$7976.16</a:t>
                      </a:r>
                      <a:endParaRPr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29</a:t>
                      </a:r>
                      <a:endParaRPr sz="1800"/>
                    </a:p>
                  </a:txBody>
                  <a:tcPr marT="30475" marB="30475" marR="60950" marL="60950" anchor="ctr"/>
                </a:tc>
              </a:tr>
              <a:tr h="5001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5</a:t>
                      </a:r>
                      <a:endParaRPr b="0" sz="1800"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B_Z</a:t>
                      </a:r>
                      <a:endParaRPr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$2368662.53</a:t>
                      </a:r>
                      <a:endParaRPr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11730</a:t>
                      </a:r>
                      <a:endParaRPr sz="1800"/>
                    </a:p>
                  </a:txBody>
                  <a:tcPr marT="30475" marB="30475" marR="60950" marL="60950" anchor="ctr"/>
                </a:tc>
              </a:tr>
              <a:tr h="5001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6</a:t>
                      </a:r>
                      <a:endParaRPr b="0" sz="1800"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C_Z</a:t>
                      </a:r>
                      <a:endParaRPr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$792216.08</a:t>
                      </a:r>
                      <a:endParaRPr/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11940</a:t>
                      </a:r>
                      <a:endParaRPr sz="1800"/>
                    </a:p>
                  </a:txBody>
                  <a:tcPr marT="30475" marB="30475" marR="60950" marL="609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3"/>
          <p:cNvSpPr txBox="1"/>
          <p:nvPr>
            <p:ph type="title"/>
          </p:nvPr>
        </p:nvSpPr>
        <p:spPr>
          <a:xfrm>
            <a:off x="561109" y="-129309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orbel"/>
              <a:buNone/>
            </a:pPr>
            <a:r>
              <a:rPr lang="ru-RU" sz="3200"/>
              <a:t>Выводы АВС+XYZ по товарам (категории и ID)</a:t>
            </a:r>
            <a:endParaRPr sz="3200"/>
          </a:p>
        </p:txBody>
      </p:sp>
      <p:sp>
        <p:nvSpPr>
          <p:cNvPr id="342" name="Google Shape;342;p43"/>
          <p:cNvSpPr txBox="1"/>
          <p:nvPr>
            <p:ph idx="1" type="body"/>
          </p:nvPr>
        </p:nvSpPr>
        <p:spPr>
          <a:xfrm>
            <a:off x="561109" y="812800"/>
            <a:ext cx="11159835" cy="5634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Группа A (Товары с высокой ценностью - обеспечивают большую часть выручки):</a:t>
            </a:r>
            <a:r>
              <a:rPr lang="ru-RU"/>
              <a:t> </a:t>
            </a:r>
            <a:r>
              <a:rPr b="1" lang="ru-RU"/>
              <a:t>AX (Высокая ценность, стабильный спрос):</a:t>
            </a:r>
            <a:r>
              <a:rPr lang="ru-RU"/>
              <a:t> </a:t>
            </a:r>
            <a:r>
              <a:rPr b="1" lang="ru-RU"/>
              <a:t>Описание:</a:t>
            </a:r>
            <a:r>
              <a:rPr lang="ru-RU"/>
              <a:t> Товары-хиты, пользующиеся постоянным спросом и приносящие основную прибыль. </a:t>
            </a:r>
            <a:r>
              <a:rPr b="1" lang="ru-RU"/>
              <a:t>Рекомендации:</a:t>
            </a:r>
            <a:r>
              <a:rPr lang="ru-RU"/>
              <a:t> </a:t>
            </a:r>
            <a:r>
              <a:rPr b="1" lang="ru-RU"/>
              <a:t>Постоянный мониторинг:</a:t>
            </a:r>
            <a:r>
              <a:rPr lang="ru-RU"/>
              <a:t> отслеживание спроса и запасов, чтобы избежать дефицита или излишков. </a:t>
            </a:r>
            <a:r>
              <a:rPr b="1" lang="ru-RU"/>
              <a:t>Автоматическое пополнение:</a:t>
            </a:r>
            <a:r>
              <a:rPr lang="ru-RU"/>
              <a:t> Использование систем автоматического пополнения запасов. </a:t>
            </a:r>
            <a:r>
              <a:rPr b="1" lang="ru-RU"/>
              <a:t>Оптимизация цены:</a:t>
            </a:r>
            <a:r>
              <a:rPr lang="ru-RU"/>
              <a:t> тестирование различных ценовых стратегий для максимизации прибыли. </a:t>
            </a:r>
            <a:r>
              <a:rPr b="1" lang="ru-RU"/>
              <a:t>Поддержание качества:</a:t>
            </a:r>
            <a:r>
              <a:rPr lang="ru-RU"/>
              <a:t> уделение особого внимания качеству товаров и удовлетворенности клиентов. </a:t>
            </a:r>
            <a:r>
              <a:rPr b="1" lang="ru-RU"/>
              <a:t>Минимальные маркетинговые усилия:</a:t>
            </a:r>
            <a:r>
              <a:rPr lang="ru-RU"/>
              <a:t> поддержка бренда и информирование о новинках.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AY (Высокая ценность, умеренно стабильный спрос):</a:t>
            </a:r>
            <a:r>
              <a:rPr lang="ru-RU"/>
              <a:t> </a:t>
            </a:r>
            <a:r>
              <a:rPr b="1" lang="ru-RU"/>
              <a:t>Описание:</a:t>
            </a:r>
            <a:r>
              <a:rPr lang="ru-RU"/>
              <a:t> Товары, приносящие большую часть выручки, но спрос на которые подвержен сезонным или другим колебаниям. </a:t>
            </a:r>
            <a:r>
              <a:rPr b="1" lang="ru-RU"/>
              <a:t>Рекомендации:</a:t>
            </a:r>
            <a:r>
              <a:rPr lang="ru-RU"/>
              <a:t> </a:t>
            </a:r>
            <a:r>
              <a:rPr b="1" lang="ru-RU"/>
              <a:t>Прогнозирование спроса:</a:t>
            </a:r>
            <a:r>
              <a:rPr lang="ru-RU"/>
              <a:t> использование исторических данных и сезонных моделей для прогнозирования спроса. </a:t>
            </a:r>
            <a:r>
              <a:rPr b="1" lang="ru-RU"/>
              <a:t>Страховой запас:</a:t>
            </a:r>
            <a:r>
              <a:rPr lang="ru-RU"/>
              <a:t> Создание страхового запаса для удовлетворения пикового спроса. </a:t>
            </a:r>
            <a:r>
              <a:rPr b="1" lang="ru-RU"/>
              <a:t>Маркетинговые акции:</a:t>
            </a:r>
            <a:r>
              <a:rPr lang="ru-RU"/>
              <a:t> планирование маркетинговых акций и скидок для стимулирования спроса в периоды спада. </a:t>
            </a:r>
            <a:r>
              <a:rPr b="1" lang="ru-RU"/>
              <a:t>Гибкая ценовая политика:</a:t>
            </a:r>
            <a:r>
              <a:rPr lang="ru-RU"/>
              <a:t> изменение цен в зависимости от спроса и конкуренции.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AZ (Высокая ценность, нестабильный спрос):</a:t>
            </a:r>
            <a:r>
              <a:rPr lang="ru-RU"/>
              <a:t> </a:t>
            </a:r>
            <a:r>
              <a:rPr b="1" lang="ru-RU"/>
              <a:t>Описание:</a:t>
            </a:r>
            <a:r>
              <a:rPr lang="ru-RU"/>
              <a:t> Товары, приносящие большую часть выручки, но спрос на которые очень непредсказуем. </a:t>
            </a:r>
            <a:r>
              <a:rPr b="1" lang="ru-RU"/>
              <a:t>Рекомендации:</a:t>
            </a:r>
            <a:r>
              <a:rPr lang="ru-RU"/>
              <a:t> </a:t>
            </a:r>
            <a:r>
              <a:rPr b="1" lang="ru-RU"/>
              <a:t>Ограниченный запас:</a:t>
            </a:r>
            <a:r>
              <a:rPr lang="ru-RU"/>
              <a:t> Поддержание минимального необходимого запаса для удовлетворения спроса. </a:t>
            </a:r>
            <a:r>
              <a:rPr b="1" lang="ru-RU"/>
              <a:t>Быстрое реагирование:</a:t>
            </a:r>
            <a:r>
              <a:rPr lang="ru-RU"/>
              <a:t> Готовность быстро реагировать на изменения спроса. </a:t>
            </a:r>
            <a:r>
              <a:rPr b="1" lang="ru-RU"/>
              <a:t>Анализ причин:</a:t>
            </a:r>
            <a:r>
              <a:rPr lang="ru-RU"/>
              <a:t> изучение факторов, влияющих на непредсказуемость спроса (например, мода, тренды). </a:t>
            </a:r>
            <a:r>
              <a:rPr b="1" lang="ru-RU"/>
              <a:t>Специальные условия:</a:t>
            </a:r>
            <a:r>
              <a:rPr lang="ru-RU"/>
              <a:t> Продажа под заказ или по предоплате. </a:t>
            </a:r>
            <a:r>
              <a:rPr b="1" lang="ru-RU"/>
              <a:t>Оценка рисков:</a:t>
            </a:r>
            <a:r>
              <a:rPr lang="ru-RU"/>
              <a:t> Оценка риска убытков от неликвидного товара.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Группа B (товары со средней ценностью — вносят заметный вклад в выручку):</a:t>
            </a:r>
            <a:r>
              <a:rPr lang="ru-RU"/>
              <a:t> </a:t>
            </a:r>
            <a:r>
              <a:rPr b="1" lang="ru-RU"/>
              <a:t>BX (Средняя ценность, стабильный спрос):</a:t>
            </a:r>
            <a:r>
              <a:rPr lang="ru-RU"/>
              <a:t> </a:t>
            </a:r>
            <a:r>
              <a:rPr b="1" lang="ru-RU"/>
              <a:t>Описание:</a:t>
            </a:r>
            <a:r>
              <a:rPr lang="ru-RU"/>
              <a:t> Товары, пользующиеся стабильным спросом и вносящие заметный вклад в общую выручку. </a:t>
            </a:r>
            <a:r>
              <a:rPr b="1" lang="ru-RU"/>
              <a:t>Рекомендации:</a:t>
            </a:r>
            <a:r>
              <a:rPr lang="ru-RU"/>
              <a:t> </a:t>
            </a:r>
            <a:r>
              <a:rPr b="1" lang="ru-RU"/>
              <a:t>Автоматизированное управление запасами:</a:t>
            </a:r>
            <a:r>
              <a:rPr lang="ru-RU"/>
              <a:t> поддержание оптимального уровня запасов с помощью автоматизированных систем. </a:t>
            </a:r>
            <a:r>
              <a:rPr b="1" lang="ru-RU"/>
              <a:t>Конкурентный анализ:</a:t>
            </a:r>
            <a:r>
              <a:rPr lang="ru-RU"/>
              <a:t> мониторинг цен конкурентов и поддержание конкурентоспособных цен. </a:t>
            </a:r>
            <a:r>
              <a:rPr b="1" lang="ru-RU"/>
              <a:t>Оптимизация логистики:</a:t>
            </a:r>
            <a:r>
              <a:rPr lang="ru-RU"/>
              <a:t> Сокращение затрат на хранение и доставку. </a:t>
            </a:r>
            <a:r>
              <a:rPr b="1" lang="ru-RU"/>
              <a:t>Умеренная реклама:</a:t>
            </a:r>
            <a:r>
              <a:rPr lang="ru-RU"/>
              <a:t> Поддержка спроса за счет участия в акциях.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BY (Средняя ценность, умеренно стабильный спрос):</a:t>
            </a:r>
            <a:r>
              <a:rPr lang="ru-RU"/>
              <a:t> </a:t>
            </a:r>
            <a:r>
              <a:rPr b="1" lang="ru-RU"/>
              <a:t>Описание:</a:t>
            </a:r>
            <a:r>
              <a:rPr lang="ru-RU"/>
              <a:t> Товары, которые вносят заметный вклад в выручку, но спрос на которые подвержен колебаниям. </a:t>
            </a:r>
            <a:r>
              <a:rPr b="1" lang="ru-RU"/>
              <a:t>Рекомендации:</a:t>
            </a:r>
            <a:r>
              <a:rPr lang="ru-RU"/>
              <a:t> </a:t>
            </a:r>
            <a:r>
              <a:rPr b="1" lang="ru-RU"/>
              <a:t>Прогнозирование спроса:</a:t>
            </a:r>
            <a:r>
              <a:rPr lang="ru-RU"/>
              <a:t> использование исторических данных для прогнозирования спроса и корректировки запасов. </a:t>
            </a:r>
            <a:r>
              <a:rPr b="1" lang="ru-RU"/>
              <a:t>Специальные предложения:</a:t>
            </a:r>
            <a:r>
              <a:rPr lang="ru-RU"/>
              <a:t> Предоставление скидок и бонусов в периоды спада спроса. </a:t>
            </a:r>
            <a:r>
              <a:rPr b="1" lang="ru-RU"/>
              <a:t>Таргетированная реклама:</a:t>
            </a:r>
            <a:r>
              <a:rPr lang="ru-RU"/>
              <a:t> использование таргетированной рекламы для привлечения новых покупателей. </a:t>
            </a:r>
            <a:r>
              <a:rPr b="1" lang="ru-RU"/>
              <a:t>Совместные продажи:</a:t>
            </a:r>
            <a:r>
              <a:rPr lang="ru-RU"/>
              <a:t> предложение этих товаров вместе с более популярными (AX).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4"/>
          <p:cNvSpPr txBox="1"/>
          <p:nvPr>
            <p:ph idx="1" type="body"/>
          </p:nvPr>
        </p:nvSpPr>
        <p:spPr>
          <a:xfrm>
            <a:off x="951346" y="591127"/>
            <a:ext cx="10064526" cy="5504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BZ (Средняя ценность, нестабильный спрос):</a:t>
            </a:r>
            <a:r>
              <a:rPr lang="ru-RU"/>
              <a:t> </a:t>
            </a:r>
            <a:r>
              <a:rPr b="1" lang="ru-RU"/>
              <a:t>Описание:</a:t>
            </a:r>
            <a:r>
              <a:rPr lang="ru-RU"/>
              <a:t> Товары, которые вносят заметный вклад в выручку, но спрос на которые непредсказуем. </a:t>
            </a:r>
            <a:r>
              <a:rPr b="1" lang="ru-RU"/>
              <a:t>Рекомендации:</a:t>
            </a:r>
            <a:r>
              <a:rPr lang="ru-RU"/>
              <a:t> </a:t>
            </a:r>
            <a:r>
              <a:rPr b="1" lang="ru-RU"/>
              <a:t>Минимальный запас:</a:t>
            </a:r>
            <a:r>
              <a:rPr lang="ru-RU"/>
              <a:t> Поддержание минимально необходимого запаса. </a:t>
            </a:r>
            <a:r>
              <a:rPr b="1" lang="ru-RU"/>
              <a:t>Отслеживание трендов:</a:t>
            </a:r>
            <a:r>
              <a:rPr lang="ru-RU"/>
              <a:t> Анализ рынка и моды для прогнозирования спроса </a:t>
            </a:r>
            <a:r>
              <a:rPr b="1" lang="ru-RU"/>
              <a:t>Распродажи:</a:t>
            </a:r>
            <a:r>
              <a:rPr lang="ru-RU"/>
              <a:t> регулярные распродажи для избавления от неликвидных товаров. </a:t>
            </a:r>
            <a:r>
              <a:rPr b="1" lang="ru-RU"/>
              <a:t>Оценка рентабельности:</a:t>
            </a:r>
            <a:r>
              <a:rPr lang="ru-RU"/>
              <a:t> Решение о целесообразности дальнейшей продажи этих товаров.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Группа C (Товары с низкой ценностью - вносят небольшой вклад в выручку):</a:t>
            </a:r>
            <a:r>
              <a:rPr lang="ru-RU"/>
              <a:t> </a:t>
            </a:r>
            <a:r>
              <a:rPr b="1" lang="ru-RU"/>
              <a:t>CX (Низкая ценность, стабильный спрос):</a:t>
            </a:r>
            <a:r>
              <a:rPr lang="ru-RU"/>
              <a:t> </a:t>
            </a:r>
            <a:r>
              <a:rPr b="1" lang="ru-RU"/>
              <a:t>Описание:</a:t>
            </a:r>
            <a:r>
              <a:rPr lang="ru-RU"/>
              <a:t> Товары, которые продаются медленно, но стабильно.. </a:t>
            </a:r>
            <a:r>
              <a:rPr b="1" lang="ru-RU"/>
              <a:t>Рекомендации:</a:t>
            </a:r>
            <a:r>
              <a:rPr lang="ru-RU"/>
              <a:t> </a:t>
            </a:r>
            <a:r>
              <a:rPr b="1" lang="ru-RU"/>
              <a:t>Сокращение запасов:</a:t>
            </a:r>
            <a:r>
              <a:rPr lang="ru-RU"/>
              <a:t> Поддержание минимального запаса. </a:t>
            </a:r>
            <a:r>
              <a:rPr b="1" lang="ru-RU"/>
              <a:t>Упрощенная логистика:</a:t>
            </a:r>
            <a:r>
              <a:rPr lang="ru-RU"/>
              <a:t> Объединение доставки с другими товарами. </a:t>
            </a:r>
            <a:r>
              <a:rPr b="1" lang="ru-RU"/>
              <a:t>Кросс-продажи:</a:t>
            </a:r>
            <a:r>
              <a:rPr lang="ru-RU"/>
              <a:t> Предложение в комплекте с более популярными товарами. </a:t>
            </a:r>
            <a:r>
              <a:rPr b="1" lang="ru-RU"/>
              <a:t>Снижение цен:</a:t>
            </a:r>
            <a:r>
              <a:rPr lang="ru-RU"/>
              <a:t> Скидки для стимулирования продаж.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CY (Низкая ценность, умеренно стабильный спрос):</a:t>
            </a:r>
            <a:r>
              <a:rPr lang="ru-RU"/>
              <a:t> </a:t>
            </a:r>
            <a:r>
              <a:rPr b="1" lang="ru-RU"/>
              <a:t>Описание:</a:t>
            </a:r>
            <a:r>
              <a:rPr lang="ru-RU"/>
              <a:t> Товары, которые продаются с переменным успехом. </a:t>
            </a:r>
            <a:r>
              <a:rPr b="1" lang="ru-RU"/>
              <a:t>Рекомендации:</a:t>
            </a:r>
            <a:r>
              <a:rPr lang="ru-RU"/>
              <a:t> </a:t>
            </a:r>
            <a:r>
              <a:rPr b="1" lang="ru-RU"/>
              <a:t>Анализ рынка:</a:t>
            </a:r>
            <a:r>
              <a:rPr lang="ru-RU"/>
              <a:t> Определение причин низкого спроса. </a:t>
            </a:r>
            <a:r>
              <a:rPr b="1" lang="ru-RU"/>
              <a:t>Эксперименты:</a:t>
            </a:r>
            <a:r>
              <a:rPr lang="ru-RU"/>
              <a:t> Попытки стимулирования спроса с помощью различных акций. </a:t>
            </a:r>
            <a:r>
              <a:rPr b="1" lang="ru-RU"/>
              <a:t>Оценка рентабельности:</a:t>
            </a:r>
            <a:r>
              <a:rPr lang="ru-RU"/>
              <a:t> Принятие решения о целесообразности дальнейшей продажи. </a:t>
            </a:r>
            <a:r>
              <a:rPr b="1" lang="ru-RU"/>
              <a:t>Снижение запасов:</a:t>
            </a:r>
            <a:r>
              <a:rPr lang="ru-RU"/>
              <a:t> Поддержание минимально необходимого запаса.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CZ (Низкая ценность, нестабильный спрос):</a:t>
            </a:r>
            <a:r>
              <a:rPr lang="ru-RU"/>
              <a:t> </a:t>
            </a:r>
            <a:r>
              <a:rPr b="1" lang="ru-RU"/>
              <a:t>Описание:</a:t>
            </a:r>
            <a:r>
              <a:rPr lang="ru-RU"/>
              <a:t> Товары, которые практически не продаются и имеют непредсказуемый спрос. </a:t>
            </a:r>
            <a:r>
              <a:rPr b="1" lang="ru-RU"/>
              <a:t>Рекомендации:</a:t>
            </a:r>
            <a:r>
              <a:rPr lang="ru-RU"/>
              <a:t> </a:t>
            </a:r>
            <a:r>
              <a:rPr b="1" lang="ru-RU"/>
              <a:t>Распродажа:</a:t>
            </a:r>
            <a:r>
              <a:rPr lang="ru-RU"/>
              <a:t> Предложение с большими скидками для освобождения склада. </a:t>
            </a:r>
            <a:r>
              <a:rPr b="1" lang="ru-RU"/>
              <a:t>Утилизация:</a:t>
            </a:r>
            <a:r>
              <a:rPr lang="ru-RU"/>
              <a:t> Утилизация неликвидного товара. </a:t>
            </a:r>
            <a:r>
              <a:rPr b="1" lang="ru-RU"/>
              <a:t>Отказ от продажи:</a:t>
            </a:r>
            <a:r>
              <a:rPr lang="ru-RU"/>
              <a:t> Исключение товара из ассортимента.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5"/>
          <p:cNvSpPr txBox="1"/>
          <p:nvPr>
            <p:ph type="title"/>
          </p:nvPr>
        </p:nvSpPr>
        <p:spPr>
          <a:xfrm>
            <a:off x="477981" y="314036"/>
            <a:ext cx="11566236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orbel"/>
              <a:buNone/>
            </a:pPr>
            <a:r>
              <a:rPr b="1" lang="ru-RU"/>
              <a:t>ABC+XYZ3 (уникальный ID покупателя+цена(с учетом рассрочки)+доставка)</a:t>
            </a:r>
            <a:endParaRPr/>
          </a:p>
        </p:txBody>
      </p:sp>
      <p:pic>
        <p:nvPicPr>
          <p:cNvPr id="353" name="Google Shape;353;p4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289" y="1753524"/>
            <a:ext cx="5382645" cy="44426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4" name="Google Shape;354;p45"/>
          <p:cNvGraphicFramePr/>
          <p:nvPr/>
        </p:nvGraphicFramePr>
        <p:xfrm>
          <a:off x="6502399" y="21237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{05D54568-E285-4597-B2C9-7C5A621D90C4}</a:tableStyleId>
              </a:tblPr>
              <a:tblGrid>
                <a:gridCol w="420350"/>
                <a:gridCol w="1656675"/>
                <a:gridCol w="1468225"/>
                <a:gridCol w="1468225"/>
              </a:tblGrid>
              <a:tr h="9569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№</a:t>
                      </a:r>
                      <a:endParaRPr sz="1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категория</a:t>
                      </a:r>
                      <a:endParaRPr sz="1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сумма</a:t>
                      </a:r>
                      <a:endParaRPr sz="1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Количество человек</a:t>
                      </a:r>
                      <a:endParaRPr sz="1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0475" marB="30475" marR="60950" marL="60950" anchor="ctr"/>
                </a:tc>
              </a:tr>
              <a:tr h="4819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A_X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$927.63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0475" marB="30475" marR="60950" marL="60950" anchor="ctr"/>
                </a:tc>
              </a:tr>
              <a:tr h="4819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A_Y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$10279.39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13</a:t>
                      </a:r>
                      <a:endParaRPr sz="1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0475" marB="30475" marR="60950" marL="60950" anchor="ctr"/>
                </a:tc>
              </a:tr>
              <a:tr h="6599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A_Z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$12795839.32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46751</a:t>
                      </a:r>
                      <a:endParaRPr sz="1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0475" marB="30475" marR="60950" marL="60950" anchor="ctr"/>
                </a:tc>
              </a:tr>
              <a:tr h="6599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sz="1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B_Z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$2401358.00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29457</a:t>
                      </a:r>
                      <a:endParaRPr sz="1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0475" marB="30475" marR="60950" marL="60950" anchor="ctr"/>
                </a:tc>
              </a:tr>
              <a:tr h="4819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sz="1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C_Z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$800467.78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0475" marB="30475" marR="60950" marL="60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19873</a:t>
                      </a:r>
                      <a:endParaRPr sz="1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0475" marB="30475" marR="60950" marL="60950" anchor="ctr"/>
                </a:tc>
              </a:tr>
            </a:tbl>
          </a:graphicData>
        </a:graphic>
      </p:graphicFrame>
      <p:sp>
        <p:nvSpPr>
          <p:cNvPr id="355" name="Google Shape;355;p45"/>
          <p:cNvSpPr txBox="1"/>
          <p:nvPr/>
        </p:nvSpPr>
        <p:spPr>
          <a:xfrm>
            <a:off x="7526764" y="1712396"/>
            <a:ext cx="339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Доход по категориям</a:t>
            </a:r>
            <a:endParaRPr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6"/>
          <p:cNvSpPr txBox="1"/>
          <p:nvPr>
            <p:ph type="title"/>
          </p:nvPr>
        </p:nvSpPr>
        <p:spPr>
          <a:xfrm>
            <a:off x="1140351" y="-240145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orbel"/>
              <a:buNone/>
            </a:pPr>
            <a:r>
              <a:rPr lang="ru-RU" sz="3200"/>
              <a:t>Выводы АВС+XYZ по покупателям: </a:t>
            </a:r>
            <a:endParaRPr sz="3200"/>
          </a:p>
        </p:txBody>
      </p:sp>
      <p:sp>
        <p:nvSpPr>
          <p:cNvPr id="361" name="Google Shape;361;p46"/>
          <p:cNvSpPr txBox="1"/>
          <p:nvPr>
            <p:ph idx="1" type="body"/>
          </p:nvPr>
        </p:nvSpPr>
        <p:spPr>
          <a:xfrm>
            <a:off x="447452" y="940577"/>
            <a:ext cx="11462400" cy="56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Группа A (Самые ценные клиенты):</a:t>
            </a:r>
            <a:r>
              <a:rPr lang="ru-RU"/>
              <a:t>  </a:t>
            </a:r>
            <a:r>
              <a:rPr b="1" lang="ru-RU"/>
              <a:t>AX (Стабильно ценные):</a:t>
            </a:r>
            <a:r>
              <a:rPr lang="ru-RU"/>
              <a:t> </a:t>
            </a:r>
            <a:r>
              <a:rPr b="1" lang="ru-RU"/>
              <a:t>Описание:</a:t>
            </a:r>
            <a:r>
              <a:rPr lang="ru-RU"/>
              <a:t> Клиенты, приносящие наибольшую выручку, с наиболее стабильным и предсказуемым спросом. </a:t>
            </a:r>
            <a:r>
              <a:rPr b="1" lang="ru-RU"/>
              <a:t>Рекомендации:</a:t>
            </a:r>
            <a:r>
              <a:rPr lang="ru-RU"/>
              <a:t> </a:t>
            </a:r>
            <a:r>
              <a:rPr b="1" lang="ru-RU"/>
              <a:t>Премиум-обслуживание:</a:t>
            </a:r>
            <a:r>
              <a:rPr lang="ru-RU"/>
              <a:t> Выделенный менеджер, приоритетная поддержка. </a:t>
            </a:r>
            <a:r>
              <a:rPr b="1" lang="ru-RU"/>
              <a:t>Персонализированные предложения:</a:t>
            </a:r>
            <a:r>
              <a:rPr lang="ru-RU"/>
              <a:t> эксклюзивные скидки, бонусы, акции, соответствующие их потребностям. </a:t>
            </a:r>
            <a:r>
              <a:rPr b="1" lang="ru-RU"/>
              <a:t>Ранний доступ:</a:t>
            </a:r>
            <a:r>
              <a:rPr lang="ru-RU"/>
              <a:t> Новые продукты, услуги, функции. </a:t>
            </a:r>
            <a:r>
              <a:rPr b="1" lang="ru-RU"/>
              <a:t>Программы лояльности:</a:t>
            </a:r>
            <a:r>
              <a:rPr lang="ru-RU"/>
              <a:t> VIP-статус, повышенные бонусы, специальные мероприятия. </a:t>
            </a:r>
            <a:r>
              <a:rPr b="1" lang="ru-RU"/>
              <a:t>Регулярная обратная связь:</a:t>
            </a:r>
            <a:r>
              <a:rPr lang="ru-RU"/>
              <a:t> стремитесь понять их потребности и улучшить сервис.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AY (Ценные с умеренной стабильностью):</a:t>
            </a:r>
            <a:r>
              <a:rPr lang="ru-RU"/>
              <a:t> </a:t>
            </a:r>
            <a:r>
              <a:rPr b="1" lang="ru-RU"/>
              <a:t>Описание:</a:t>
            </a:r>
            <a:r>
              <a:rPr lang="ru-RU"/>
              <a:t> Клиенты, приносящие высокую прибыль, но с менее предсказуемым спросом. </a:t>
            </a:r>
            <a:r>
              <a:rPr b="1" lang="ru-RU"/>
              <a:t>Рекомендации:</a:t>
            </a:r>
            <a:r>
              <a:rPr lang="ru-RU"/>
              <a:t> </a:t>
            </a:r>
            <a:r>
              <a:rPr b="1" lang="ru-RU"/>
              <a:t>Анализ поведения:</a:t>
            </a:r>
            <a:r>
              <a:rPr lang="ru-RU"/>
              <a:t> выясните причины колебаний спроса (например, сезонность, акции конкурентов). </a:t>
            </a:r>
            <a:r>
              <a:rPr b="1" lang="ru-RU"/>
              <a:t>Стимулирующие предложения:</a:t>
            </a:r>
            <a:r>
              <a:rPr lang="ru-RU"/>
              <a:t> скидки, бонусы, акции для поддержания интереса. </a:t>
            </a:r>
            <a:r>
              <a:rPr b="1" lang="ru-RU"/>
              <a:t>Индивидуальная коммуникация:</a:t>
            </a:r>
            <a:r>
              <a:rPr lang="ru-RU"/>
              <a:t> предложения, адаптированные к их потребностям и предыдущим покупкам. </a:t>
            </a:r>
            <a:r>
              <a:rPr b="1" lang="ru-RU"/>
              <a:t>Оптимизация процессов:</a:t>
            </a:r>
            <a:r>
              <a:rPr lang="ru-RU"/>
              <a:t> Улучшение обслуживания, упрощение процесса покупки.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AZ (Ценные, но нестабильные):</a:t>
            </a:r>
            <a:r>
              <a:rPr lang="ru-RU"/>
              <a:t> </a:t>
            </a:r>
            <a:r>
              <a:rPr b="1" lang="ru-RU"/>
              <a:t>Описание:</a:t>
            </a:r>
            <a:r>
              <a:rPr lang="ru-RU"/>
              <a:t> Клиенты, приносящие высокую прибыль, но с очень непредсказуемым спросом. </a:t>
            </a:r>
            <a:r>
              <a:rPr b="1" lang="ru-RU"/>
              <a:t>Рекомендации:</a:t>
            </a:r>
            <a:r>
              <a:rPr lang="ru-RU"/>
              <a:t> </a:t>
            </a:r>
            <a:r>
              <a:rPr b="1" lang="ru-RU"/>
              <a:t>Глубокий анализ:</a:t>
            </a:r>
            <a:r>
              <a:rPr lang="ru-RU"/>
              <a:t> выясните причины нестабильного спроса (например, высокая чувствительность к цене, смена поставщиков). </a:t>
            </a:r>
            <a:r>
              <a:rPr b="1" lang="ru-RU"/>
              <a:t>Персонализированные предложения:</a:t>
            </a:r>
            <a:r>
              <a:rPr lang="ru-RU"/>
              <a:t> адаптируйте предложения к их потребностям и обстоятельствам. </a:t>
            </a:r>
            <a:r>
              <a:rPr b="1" lang="ru-RU"/>
              <a:t>Постоянный мониторинг:</a:t>
            </a:r>
            <a:r>
              <a:rPr lang="ru-RU"/>
              <a:t> отслеживайте их активность и своевременно реагируйте на изменения. </a:t>
            </a:r>
            <a:r>
              <a:rPr b="1" lang="ru-RU"/>
              <a:t>Оценка риска:</a:t>
            </a:r>
            <a:r>
              <a:rPr lang="ru-RU"/>
              <a:t> оцените риск потери этих клиентов и разработайте план действий.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Группа B (Важные клиенты):</a:t>
            </a:r>
            <a:r>
              <a:rPr lang="ru-RU"/>
              <a:t> </a:t>
            </a:r>
            <a:r>
              <a:rPr b="1" lang="ru-RU"/>
              <a:t>BX (Важные и стабильные):</a:t>
            </a:r>
            <a:r>
              <a:rPr lang="ru-RU"/>
              <a:t> </a:t>
            </a:r>
            <a:r>
              <a:rPr b="1" lang="ru-RU"/>
              <a:t>Описание:</a:t>
            </a:r>
            <a:r>
              <a:rPr lang="ru-RU"/>
              <a:t> Клиенты, вносящие значительный вклад в выручку и имеющие стабильный спрос. </a:t>
            </a:r>
            <a:r>
              <a:rPr b="1" lang="ru-RU"/>
              <a:t>Рекомендации:</a:t>
            </a:r>
            <a:r>
              <a:rPr lang="ru-RU"/>
              <a:t> </a:t>
            </a:r>
            <a:r>
              <a:rPr b="1" lang="ru-RU"/>
              <a:t>Развитие отношений:</a:t>
            </a:r>
            <a:r>
              <a:rPr lang="ru-RU"/>
              <a:t> Предоставление персонального сервиса, предвосхищение потребностей. </a:t>
            </a:r>
            <a:r>
              <a:rPr b="1" lang="ru-RU"/>
              <a:t>Апсейл и кросс-сейл:</a:t>
            </a:r>
            <a:r>
              <a:rPr lang="ru-RU"/>
              <a:t> предложение дополнительных товаров/услуг, повышающих средний чек. </a:t>
            </a:r>
            <a:r>
              <a:rPr b="1" lang="ru-RU"/>
              <a:t>Программы лояльности:</a:t>
            </a:r>
            <a:r>
              <a:rPr lang="ru-RU"/>
              <a:t> Стимулирование повторных покупок. </a:t>
            </a:r>
            <a:r>
              <a:rPr b="1" lang="ru-RU"/>
              <a:t>Обратная связь:</a:t>
            </a:r>
            <a:r>
              <a:rPr lang="ru-RU"/>
              <a:t> Сбор информации о потребностях и предпочтениях.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BY (Важные с умеренной стабильностью):</a:t>
            </a:r>
            <a:r>
              <a:rPr lang="ru-RU"/>
              <a:t> </a:t>
            </a:r>
            <a:r>
              <a:rPr b="1" lang="ru-RU"/>
              <a:t>Описание:</a:t>
            </a:r>
            <a:r>
              <a:rPr lang="ru-RU"/>
              <a:t> Клиенты, вносящие значительный вклад в выручку, но с умеренной стабильностью спроса. </a:t>
            </a:r>
            <a:r>
              <a:rPr b="1" lang="ru-RU"/>
              <a:t>Рекомендации:</a:t>
            </a:r>
            <a:r>
              <a:rPr lang="ru-RU"/>
              <a:t> </a:t>
            </a:r>
            <a:r>
              <a:rPr b="1" lang="ru-RU"/>
              <a:t>Анализ колебаний:</a:t>
            </a:r>
            <a:r>
              <a:rPr lang="ru-RU"/>
              <a:t> Выявление факторов, влияющих на изменения спроса. </a:t>
            </a:r>
            <a:r>
              <a:rPr b="1" lang="ru-RU"/>
              <a:t>Маркетинговые кампании:</a:t>
            </a:r>
            <a:r>
              <a:rPr lang="ru-RU"/>
              <a:t> акции, скидки, предложения, направленные на стимулирование спроса в периоды спада. </a:t>
            </a:r>
            <a:r>
              <a:rPr b="1" lang="ru-RU"/>
              <a:t>Персонализированный контент:</a:t>
            </a:r>
            <a:r>
              <a:rPr lang="ru-RU"/>
              <a:t> информирование о новых продуктах, акциях, мероприятиях.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7"/>
          <p:cNvSpPr txBox="1"/>
          <p:nvPr>
            <p:ph idx="1" type="body"/>
          </p:nvPr>
        </p:nvSpPr>
        <p:spPr>
          <a:xfrm>
            <a:off x="877454" y="544946"/>
            <a:ext cx="10498635" cy="56988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BZ (Важные, но нестабильные):</a:t>
            </a:r>
            <a:r>
              <a:rPr lang="ru-RU"/>
              <a:t> </a:t>
            </a:r>
            <a:r>
              <a:rPr b="1" lang="ru-RU"/>
              <a:t>Описание:</a:t>
            </a:r>
            <a:r>
              <a:rPr lang="ru-RU"/>
              <a:t> Клиенты, вносящие значительный вклад в выручку, но с очень непредсказуемым спросом. </a:t>
            </a:r>
            <a:r>
              <a:rPr b="1" lang="ru-RU"/>
              <a:t>Рекомендации:</a:t>
            </a:r>
            <a:r>
              <a:rPr lang="ru-RU"/>
              <a:t> </a:t>
            </a:r>
            <a:r>
              <a:rPr b="1" lang="ru-RU"/>
              <a:t>Глубокий анализ:</a:t>
            </a:r>
            <a:r>
              <a:rPr lang="ru-RU"/>
              <a:t> изучение мотивов покупок, факторов, влияющих на решения. </a:t>
            </a:r>
            <a:r>
              <a:rPr b="1" lang="ru-RU"/>
              <a:t>Программы лояльности:</a:t>
            </a:r>
            <a:r>
              <a:rPr lang="ru-RU"/>
              <a:t> С фокусом на стимуляцию регулярных покупок. </a:t>
            </a:r>
            <a:r>
              <a:rPr b="1" lang="ru-RU"/>
              <a:t>Обратная связь:</a:t>
            </a:r>
            <a:r>
              <a:rPr lang="ru-RU"/>
              <a:t> Регулярный опрос о потребностях и удовлетворенности. </a:t>
            </a:r>
            <a:r>
              <a:rPr b="1" lang="ru-RU"/>
              <a:t>Упреждающие меры:</a:t>
            </a:r>
            <a:r>
              <a:rPr lang="ru-RU"/>
              <a:t> Предложение помощи и поддержки.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Группа C (Менее важные клиенты):</a:t>
            </a:r>
            <a:r>
              <a:rPr lang="ru-RU"/>
              <a:t> </a:t>
            </a:r>
            <a:r>
              <a:rPr b="1" lang="ru-RU"/>
              <a:t>CX (Менее важные, но стабильные):</a:t>
            </a:r>
            <a:r>
              <a:rPr lang="ru-RU"/>
              <a:t> </a:t>
            </a:r>
            <a:r>
              <a:rPr b="1" lang="ru-RU"/>
              <a:t>Описание:</a:t>
            </a:r>
            <a:r>
              <a:rPr lang="ru-RU"/>
              <a:t> Клиенты, которые вносят небольшой вклад в выручку, но имеют предсказуемый спрос. </a:t>
            </a:r>
            <a:r>
              <a:rPr b="1" lang="ru-RU"/>
              <a:t>Рекомендации:</a:t>
            </a:r>
            <a:r>
              <a:rPr lang="ru-RU"/>
              <a:t> </a:t>
            </a:r>
            <a:r>
              <a:rPr b="1" lang="ru-RU"/>
              <a:t>Автоматизация:</a:t>
            </a:r>
            <a:r>
              <a:rPr lang="ru-RU"/>
              <a:t> Использование автоматизированных систем для обслуживания. </a:t>
            </a:r>
            <a:r>
              <a:rPr b="1" lang="ru-RU"/>
              <a:t>Стандартные предложения:</a:t>
            </a:r>
            <a:r>
              <a:rPr lang="ru-RU"/>
              <a:t> Акции, скидки для всех клиентов. </a:t>
            </a:r>
            <a:r>
              <a:rPr b="1" lang="ru-RU"/>
              <a:t>Стимулирование роста:</a:t>
            </a:r>
            <a:r>
              <a:rPr lang="ru-RU"/>
              <a:t> Предложение более дорогих продуктов, услуг.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CY (Менее важные с умеренной стабильностью):</a:t>
            </a:r>
            <a:r>
              <a:rPr lang="ru-RU"/>
              <a:t> </a:t>
            </a:r>
            <a:r>
              <a:rPr b="1" lang="ru-RU"/>
              <a:t>Описание:</a:t>
            </a:r>
            <a:r>
              <a:rPr lang="ru-RU"/>
              <a:t> Клиенты, вносящие небольшой вклад в выручку, с умеренной стабильностью спроса. </a:t>
            </a:r>
            <a:r>
              <a:rPr b="1" lang="ru-RU"/>
              <a:t>Рекомендации:</a:t>
            </a:r>
            <a:r>
              <a:rPr lang="ru-RU"/>
              <a:t> </a:t>
            </a:r>
            <a:r>
              <a:rPr b="1" lang="ru-RU"/>
              <a:t>Таргетированные кампании:</a:t>
            </a:r>
            <a:r>
              <a:rPr lang="ru-RU"/>
              <a:t> Предложения, основанные на их интересах. </a:t>
            </a:r>
            <a:r>
              <a:rPr b="1" lang="ru-RU"/>
              <a:t>Скидки и акции:</a:t>
            </a:r>
            <a:r>
              <a:rPr lang="ru-RU"/>
              <a:t> На стимулирование повторных покупок. </a:t>
            </a:r>
            <a:r>
              <a:rPr b="1" lang="ru-RU"/>
              <a:t>Улучшение обслуживания:</a:t>
            </a:r>
            <a:r>
              <a:rPr lang="ru-RU"/>
              <a:t> Повышение лояльности.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CZ (Менее важные и нестабильные):</a:t>
            </a:r>
            <a:r>
              <a:rPr lang="ru-RU"/>
              <a:t> </a:t>
            </a:r>
            <a:r>
              <a:rPr b="1" lang="ru-RU"/>
              <a:t>Описание:</a:t>
            </a:r>
            <a:r>
              <a:rPr lang="ru-RU"/>
              <a:t> Клиенты, которые вносят наименьший вклад в выручку и спрос на которых непредсказуем. </a:t>
            </a:r>
            <a:r>
              <a:rPr b="1" lang="ru-RU"/>
              <a:t>Рекомендации:</a:t>
            </a:r>
            <a:r>
              <a:rPr lang="ru-RU"/>
              <a:t> </a:t>
            </a:r>
            <a:r>
              <a:rPr b="1" lang="ru-RU"/>
              <a:t>Стандартизация:</a:t>
            </a:r>
            <a:r>
              <a:rPr lang="ru-RU"/>
              <a:t> Обслуживание только через автоматизированные системы. </a:t>
            </a:r>
            <a:r>
              <a:rPr b="1" lang="ru-RU"/>
              <a:t>Оценка затрат:</a:t>
            </a:r>
            <a:r>
              <a:rPr lang="ru-RU"/>
              <a:t> Определение рентабельности работы с этими клиентами. </a:t>
            </a:r>
            <a:r>
              <a:rPr b="1" lang="ru-RU"/>
              <a:t>Оптимизация:</a:t>
            </a:r>
            <a:r>
              <a:rPr lang="ru-RU"/>
              <a:t> Снижение затрат на маркетинг и обслуживание. </a:t>
            </a:r>
            <a:r>
              <a:rPr b="1" lang="ru-RU"/>
              <a:t>Возможное исключение:</a:t>
            </a:r>
            <a:r>
              <a:rPr lang="ru-RU"/>
              <a:t> в случае нерентабельности прекращение обслуживания.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8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</a:pPr>
            <a:r>
              <a:t/>
            </a:r>
            <a:endParaRPr/>
          </a:p>
        </p:txBody>
      </p:sp>
      <p:sp>
        <p:nvSpPr>
          <p:cNvPr id="372" name="Google Shape;372;p48"/>
          <p:cNvSpPr txBox="1"/>
          <p:nvPr>
            <p:ph idx="1" type="body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112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9"/>
          <p:cNvSpPr txBox="1"/>
          <p:nvPr>
            <p:ph type="title"/>
          </p:nvPr>
        </p:nvSpPr>
        <p:spPr>
          <a:xfrm>
            <a:off x="1272309" y="2613891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</a:pPr>
            <a:r>
              <a:rPr lang="ru-RU"/>
              <a:t>RFM анализ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9606" y="663632"/>
            <a:ext cx="7467169" cy="5589386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50"/>
          <p:cNvSpPr txBox="1"/>
          <p:nvPr>
            <p:ph type="title"/>
          </p:nvPr>
        </p:nvSpPr>
        <p:spPr>
          <a:xfrm>
            <a:off x="524164" y="212436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</a:pPr>
            <a:r>
              <a:rPr b="1" lang="ru-RU"/>
              <a:t>RFM анализ (price)</a:t>
            </a:r>
            <a:endParaRPr/>
          </a:p>
        </p:txBody>
      </p:sp>
      <p:sp>
        <p:nvSpPr>
          <p:cNvPr id="384" name="Google Shape;384;p50"/>
          <p:cNvSpPr txBox="1"/>
          <p:nvPr>
            <p:ph idx="1" type="body"/>
          </p:nvPr>
        </p:nvSpPr>
        <p:spPr>
          <a:xfrm>
            <a:off x="431801" y="1687945"/>
            <a:ext cx="4749800" cy="5100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0000"/>
              <a:buChar char="•"/>
            </a:pPr>
            <a:r>
              <a:rPr lang="ru-RU"/>
              <a:t>'Lost Customers: Клиенты, которых, вероятно, потеряли - Количество клиентов: 23886'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lang="ru-RU"/>
              <a:t>'Big Spenders: Клиенты, которые тратят много денег - Количество клиентов: 22742'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lang="ru-RU"/>
              <a:t>'New Low Spenders: Недавние покупатели, делающие небольшие покупки - Количество клиентов: 12587'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lang="ru-RU"/>
              <a:t>'Promising: Совершают покупки недавно, но редко - Количество клиентов: 12253'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lang="ru-RU"/>
              <a:t>'Other Customers: Клиенты, не вошедшие ни в один из сегментов выше - Количество клиентов: 12022'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lang="ru-RU"/>
              <a:t>'Churning Spenders: Клиенты, которые тратили много денег, но перестали совершать новые покупки - Количество клиентов: 11929'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lang="ru-RU"/>
              <a:t>'Churning Loyalists: Лояльные клиенты, которые перестали совершать новые покупки - Количество клиентов: 1'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0708" y="914400"/>
            <a:ext cx="9551122" cy="5542703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51"/>
          <p:cNvSpPr txBox="1"/>
          <p:nvPr>
            <p:ph type="title"/>
          </p:nvPr>
        </p:nvSpPr>
        <p:spPr>
          <a:xfrm>
            <a:off x="529373" y="471055"/>
            <a:ext cx="10833793" cy="443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rbel"/>
              <a:buNone/>
            </a:pPr>
            <a:r>
              <a:rPr lang="ru-RU" sz="1800"/>
              <a:t>Над каждым столбцом указан процент клиентов, имеющих данный RFM-скор, от общего числа клиентов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2"/>
          <p:cNvSpPr txBox="1"/>
          <p:nvPr>
            <p:ph type="title"/>
          </p:nvPr>
        </p:nvSpPr>
        <p:spPr>
          <a:xfrm>
            <a:off x="8922328" y="979053"/>
            <a:ext cx="2706254" cy="30664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rbel"/>
              <a:buNone/>
            </a:pPr>
            <a:r>
              <a:rPr b="1" lang="ru-RU" sz="1800"/>
              <a:t>Показывает распределение RFM_Score по каждому сегменту</a:t>
            </a:r>
            <a:endParaRPr sz="1800"/>
          </a:p>
        </p:txBody>
      </p:sp>
      <p:pic>
        <p:nvPicPr>
          <p:cNvPr id="396" name="Google Shape;396;p5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336" y="554182"/>
            <a:ext cx="8576992" cy="5957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7555" y="881842"/>
            <a:ext cx="7613391" cy="5698837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53"/>
          <p:cNvSpPr txBox="1"/>
          <p:nvPr>
            <p:ph type="title"/>
          </p:nvPr>
        </p:nvSpPr>
        <p:spPr>
          <a:xfrm>
            <a:off x="404090" y="-138545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orbel"/>
              <a:buNone/>
            </a:pPr>
            <a:r>
              <a:rPr b="1" lang="ru-RU" sz="3600"/>
              <a:t>RFM анализ(payment_value(цена+доставка))</a:t>
            </a:r>
            <a:endParaRPr sz="3600"/>
          </a:p>
        </p:txBody>
      </p:sp>
      <p:sp>
        <p:nvSpPr>
          <p:cNvPr id="403" name="Google Shape;403;p53"/>
          <p:cNvSpPr txBox="1"/>
          <p:nvPr>
            <p:ph idx="1" type="body"/>
          </p:nvPr>
        </p:nvSpPr>
        <p:spPr>
          <a:xfrm>
            <a:off x="570346" y="1062181"/>
            <a:ext cx="4140200" cy="5182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0000"/>
              <a:buChar char="•"/>
            </a:pPr>
            <a:r>
              <a:rPr lang="ru-RU"/>
              <a:t>'Lost Customers: Клиенты, которых, вероятно, потеряли - Количество клиентов: 24179'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lang="ru-RU"/>
              <a:t>'Big Spenders: Клиенты, которые тратят много денег - Количество клиентов: 23460'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lang="ru-RU"/>
              <a:t>'New Low Spenders: Недавние покупатели, делающие небольшие покупки - Количество клиентов: 12407'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lang="ru-RU"/>
              <a:t>'Churning Spenders: Клиенты, которые тратили много денег, но перестали совершать новые покупки - Количество клиентов: 12167'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lang="ru-RU"/>
              <a:t>'Promising: Совершают покупки недавно, но редко - Количество клиентов: 12047'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lang="ru-RU"/>
              <a:t>'Other Customers: Клиенты, не вошедшие ни в один из сегментов выше - Количество клиентов: 11834'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lang="ru-RU"/>
              <a:t>'Churning Loyalists: Лояльные клиенты, которые перестали совершать новые покупки - Количество клиентов: 1'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5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2834" y="1182255"/>
            <a:ext cx="8610553" cy="4996873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54"/>
          <p:cNvSpPr txBox="1"/>
          <p:nvPr>
            <p:ph type="title"/>
          </p:nvPr>
        </p:nvSpPr>
        <p:spPr>
          <a:xfrm>
            <a:off x="1140351" y="544946"/>
            <a:ext cx="9875520" cy="6373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rbel"/>
              <a:buNone/>
            </a:pPr>
            <a:r>
              <a:rPr lang="ru-RU" sz="1800"/>
              <a:t>Над каждым столбцом указан процент клиентов, имеющих данный RFM-скор, от общего числа клиентов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5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681" y="459830"/>
            <a:ext cx="8271000" cy="574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55"/>
          <p:cNvSpPr txBox="1"/>
          <p:nvPr>
            <p:ph type="title"/>
          </p:nvPr>
        </p:nvSpPr>
        <p:spPr>
          <a:xfrm>
            <a:off x="8922328" y="979053"/>
            <a:ext cx="2706254" cy="30664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rbel"/>
              <a:buNone/>
            </a:pPr>
            <a:r>
              <a:rPr b="1" lang="ru-RU" sz="1800"/>
              <a:t>Показывает распределение RFM_Score по каждому сегменту</a:t>
            </a:r>
            <a:endParaRPr sz="18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6"/>
          <p:cNvSpPr txBox="1"/>
          <p:nvPr>
            <p:ph type="title"/>
          </p:nvPr>
        </p:nvSpPr>
        <p:spPr>
          <a:xfrm>
            <a:off x="413326" y="304800"/>
            <a:ext cx="11076709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</a:pPr>
            <a:r>
              <a:rPr lang="ru-RU"/>
              <a:t>Выводы RFM_price и RFM_paument_value:</a:t>
            </a:r>
            <a:endParaRPr/>
          </a:p>
        </p:txBody>
      </p:sp>
      <p:sp>
        <p:nvSpPr>
          <p:cNvPr id="421" name="Google Shape;421;p56"/>
          <p:cNvSpPr txBox="1"/>
          <p:nvPr>
            <p:ph idx="1" type="body"/>
          </p:nvPr>
        </p:nvSpPr>
        <p:spPr>
          <a:xfrm>
            <a:off x="413327" y="1302327"/>
            <a:ext cx="10748016" cy="5135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Best Customers </a:t>
            </a:r>
            <a:r>
              <a:rPr lang="ru-RU"/>
              <a:t>'Самые ценные клиенты, которых нужно удерживать и вознаграждать '</a:t>
            </a:r>
            <a:r>
              <a:rPr b="1" lang="ru-RU"/>
              <a:t>:</a:t>
            </a:r>
            <a:r>
              <a:rPr lang="ru-RU"/>
              <a:t> Удерживайте этих клиентов, предлагая эксклюзивные вознаграждения, персонализированные предложения и VIP-обслуживание. Предлагайте программу лояльности с особыми привилегиями, чтобы они и дальше чувствовали себя ценными. </a:t>
            </a:r>
            <a:r>
              <a:rPr b="1" lang="ru-RU"/>
              <a:t>(отсутствуют по обоим анализам)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Loyal Customers </a:t>
            </a:r>
            <a:r>
              <a:rPr lang="ru-RU"/>
              <a:t>'Лояльные клиенты, которые покупают регулярно '</a:t>
            </a:r>
            <a:r>
              <a:rPr b="1" lang="ru-RU"/>
              <a:t>:</a:t>
            </a:r>
            <a:r>
              <a:rPr lang="ru-RU"/>
              <a:t> Поддерживайте лояльность, предлагая скидки за повторные покупки, персональные рекомендации и ранний доступ к новинкам. Создайте коммьюнити для лояльных клиентов, где они смогут общаться и делиться опытом. </a:t>
            </a:r>
            <a:r>
              <a:rPr b="1" lang="ru-RU"/>
              <a:t>(отсутствуют по обоим анализам)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Big Spenders </a:t>
            </a:r>
            <a:r>
              <a:rPr lang="ru-RU"/>
              <a:t>'Клиенты, которые тратят много денег '</a:t>
            </a:r>
            <a:r>
              <a:rPr b="1" lang="ru-RU"/>
              <a:t>:</a:t>
            </a:r>
            <a:r>
              <a:rPr lang="ru-RU"/>
              <a:t> Поощряйте крупные траты, предлагая товары премиум-класса, VIP-консультации и возможность предварительного заказа. Персонализируйте предложения на основе их прошлых покупок, предлагая сопутствующие товары и услуги.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New Big Spenders </a:t>
            </a:r>
            <a:r>
              <a:rPr lang="ru-RU"/>
              <a:t>'Новые клиенты, сразу начинающие тратить большие суммы ‘ </a:t>
            </a:r>
            <a:r>
              <a:rPr b="1" lang="ru-RU"/>
              <a:t>: </a:t>
            </a:r>
            <a:r>
              <a:rPr lang="ru-RU"/>
              <a:t>Укрепите их интерес, предлагая специальные приветственные бонусы и рекомендации по популярным товарам. Предоставьте им отличный сервис, чтобы они захотели вернуться и продолжить тратить.</a:t>
            </a:r>
            <a:r>
              <a:rPr b="1" lang="ru-RU"/>
              <a:t> (отсутствуют по обоим анализам)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New Low Spenders </a:t>
            </a:r>
            <a:r>
              <a:rPr lang="ru-RU"/>
              <a:t>'Недавние покупатели, делающие небольшие покупки ‘ </a:t>
            </a:r>
            <a:r>
              <a:rPr b="1" lang="ru-RU"/>
              <a:t>:</a:t>
            </a:r>
            <a:r>
              <a:rPr lang="ru-RU"/>
              <a:t> Стимулируйте рост трат, предлагая скидки на более дорогие товары или бесплатную доставку при достижении определенной суммы. Проанализируйте их покупки и предложите товары, которые могут повысить средний чек.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New Customers </a:t>
            </a:r>
            <a:r>
              <a:rPr lang="ru-RU"/>
              <a:t>'Недавние покупатели, которых нужно вовлекать '</a:t>
            </a:r>
            <a:r>
              <a:rPr b="1" lang="ru-RU"/>
              <a:t>:</a:t>
            </a:r>
            <a:r>
              <a:rPr lang="ru-RU"/>
              <a:t> Вовлекайте их, предлагая приветственные скидки, полезный контент и помощь в освоении ваших продуктов. Убедитесь, что они получают положительный опыт от первого взаимодействия с вашим брендом.</a:t>
            </a:r>
            <a:r>
              <a:rPr b="1" lang="ru-RU"/>
              <a:t> (отсутствуют по обоим анализам)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Lost Customers </a:t>
            </a:r>
            <a:r>
              <a:rPr lang="ru-RU"/>
              <a:t>'Клиенты, которых, вероятно, потеряли ': Попытайтесь вернуть их, предлагая специальные скидки, бонусы за возвращение и возможность высказать свои претензии. Спросите их, что пошло не так, и предложите решение проблемы.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Churning Loyalists </a:t>
            </a:r>
            <a:r>
              <a:rPr lang="ru-RU"/>
              <a:t>'Лояльные клиенты, которые перестали совершать новые покупки ': Верните их интерес, предлагая персональные скидки на их любимые товары и напоминания о преимуществах вашей программы лояльности. Проведите опрос, чтобы узнать, что их оттолкнуло, и предложите решение.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7"/>
          <p:cNvSpPr txBox="1"/>
          <p:nvPr>
            <p:ph idx="1" type="body"/>
          </p:nvPr>
        </p:nvSpPr>
        <p:spPr>
          <a:xfrm>
            <a:off x="1143000" y="323273"/>
            <a:ext cx="9872871" cy="5772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1828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Churning Spenders </a:t>
            </a:r>
            <a:r>
              <a:rPr lang="ru-RU"/>
              <a:t>'Клиенты, которые тратили много денег, но перестали совершать новые покупки '</a:t>
            </a:r>
            <a:r>
              <a:rPr b="1" lang="ru-RU"/>
              <a:t>:</a:t>
            </a:r>
            <a:r>
              <a:rPr lang="ru-RU"/>
              <a:t> Реактивируйте их интерес, предлагая эксклюзивные предложения на товары, которые они раньше покупали, и информацию о новинках в их любимых категориях. Узнайте причину ухода и предложите улучшенные условия.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Discount Shoppers </a:t>
            </a:r>
            <a:r>
              <a:rPr lang="ru-RU"/>
              <a:t>'Покупают недавно, но тратят мало '</a:t>
            </a:r>
            <a:r>
              <a:rPr b="1" lang="ru-RU"/>
              <a:t>:</a:t>
            </a:r>
            <a:r>
              <a:rPr lang="ru-RU"/>
              <a:t> Повышайте их средний чек, предлагая скидки при покупке нескольких товаров или более дорогих аналогов. Используйте акции и распродажи, чтобы привлечь их внимание к новым продуктам. </a:t>
            </a:r>
            <a:r>
              <a:rPr b="1" lang="ru-RU"/>
              <a:t>(отсутствуют по обоим анализам)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r>
              <a:rPr b="1" lang="ru-RU"/>
              <a:t>Promising </a:t>
            </a:r>
            <a:r>
              <a:rPr lang="ru-RU"/>
              <a:t>'Совершают покупки недавно, но редко '</a:t>
            </a:r>
            <a:r>
              <a:rPr b="1" lang="ru-RU"/>
              <a:t>: </a:t>
            </a:r>
            <a:r>
              <a:rPr lang="ru-RU"/>
              <a:t>Стимулируйте активность, предлагая скидки на первую покупку, эксклюзивные предложения для новых подписчиков и полезный контент, соответствующий их интересам. Создайте приветственную серию писем, чтобы познакомить их с вашим брендом.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br>
              <a:rPr lang="ru-RU"/>
            </a:br>
            <a:r>
              <a:rPr b="1" lang="ru-RU"/>
              <a:t>Resurrect Spenders </a:t>
            </a:r>
            <a:r>
              <a:rPr lang="ru-RU"/>
              <a:t>'Давно не покупали, но тратили много ': Верните их, предложив эксклюзивные скидки и бонусы, а также напомните о преимуществах вашего бренда и изменениях, которые произошли с момента их последней покупки. Предложите им VIP-обслуживание в качестве бонуса за возвращение.</a:t>
            </a:r>
            <a:r>
              <a:rPr b="1" lang="ru-RU"/>
              <a:t> (отсутствуют по обоим анализам)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br>
              <a:rPr lang="ru-RU"/>
            </a:br>
            <a:r>
              <a:rPr b="1" lang="ru-RU"/>
              <a:t>Frequent Low Spenders </a:t>
            </a:r>
            <a:r>
              <a:rPr lang="ru-RU"/>
              <a:t>'Часто покупают, но тратят мало денег за одну покупку ': Увеличьте их средний чек, предлагая пакетные предложения, акции “купи больше - плати меньше” и рекомендации по более дорогим товарам. Предложите бесплатную доставку при достижении определенной суммы заказа. </a:t>
            </a:r>
            <a:r>
              <a:rPr b="1" lang="ru-RU"/>
              <a:t>(отсутствуют по обоим анализам)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br>
              <a:rPr lang="ru-RU"/>
            </a:br>
            <a:r>
              <a:rPr b="1" lang="ru-RU"/>
              <a:t>Mid-Range </a:t>
            </a:r>
            <a:r>
              <a:rPr lang="ru-RU"/>
              <a:t>'Клиенты со средними показателями по всем трем параметрам': Стимулируйте их активность, предлагая персонализированные рекомендации, скидки на товары, которые могут их заинтересовать, и участие в конкурсах и акциях. Проведите анализ их поведения и предложите индивидуальные бонусы. </a:t>
            </a:r>
            <a:r>
              <a:rPr b="1" lang="ru-RU"/>
              <a:t>(отсутствуют по обоим анализам)</a:t>
            </a:r>
            <a:endParaRPr/>
          </a:p>
          <a:p>
            <a:pPr indent="-1828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Char char="•"/>
            </a:pPr>
            <a:br>
              <a:rPr lang="ru-RU"/>
            </a:br>
            <a:r>
              <a:rPr b="1" lang="ru-RU"/>
              <a:t>Other Customers</a:t>
            </a:r>
            <a:r>
              <a:rPr lang="ru-RU"/>
              <a:t>'Клиенты, не вошедшие ни в один из сегментов выше'</a:t>
            </a:r>
            <a:r>
              <a:rPr b="1" lang="ru-RU"/>
              <a:t>:</a:t>
            </a:r>
            <a:r>
              <a:rPr lang="ru-RU"/>
              <a:t> Проведите более детальный анализ их поведения, чтобы выявить подсегменты и разработать индивидуальные стратегии для каждой группы. Используйте опросы и аналитику, чтобы лучше понять их потребности и предпочтения.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Базис">
  <a:themeElements>
    <a:clrScheme name="Теплый синий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2025-04-14T09:59:34Z</dcterms:created>
  <dc:creator>a</dc:creator>
</cp:coreProperties>
</file>